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</p:sldMasterIdLst>
  <p:notesMasterIdLst>
    <p:notesMasterId r:id="rId24"/>
  </p:notesMasterIdLst>
  <p:handoutMasterIdLst>
    <p:handoutMasterId r:id="rId25"/>
  </p:handoutMasterIdLst>
  <p:sldIdLst>
    <p:sldId id="312" r:id="rId2"/>
    <p:sldId id="383" r:id="rId3"/>
    <p:sldId id="484" r:id="rId4"/>
    <p:sldId id="485" r:id="rId5"/>
    <p:sldId id="486" r:id="rId6"/>
    <p:sldId id="487" r:id="rId7"/>
    <p:sldId id="497" r:id="rId8"/>
    <p:sldId id="535" r:id="rId9"/>
    <p:sldId id="536" r:id="rId10"/>
    <p:sldId id="537" r:id="rId11"/>
    <p:sldId id="538" r:id="rId12"/>
    <p:sldId id="539" r:id="rId13"/>
    <p:sldId id="500" r:id="rId14"/>
    <p:sldId id="501" r:id="rId15"/>
    <p:sldId id="540" r:id="rId16"/>
    <p:sldId id="502" r:id="rId17"/>
    <p:sldId id="541" r:id="rId18"/>
    <p:sldId id="546" r:id="rId19"/>
    <p:sldId id="542" r:id="rId20"/>
    <p:sldId id="543" r:id="rId21"/>
    <p:sldId id="544" r:id="rId22"/>
    <p:sldId id="545" r:id="rId23"/>
  </p:sldIdLst>
  <p:sldSz cx="9144000" cy="6858000" type="letter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lefónica del Sur" initials="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B82793-4423-244E-B6CE-14EEF203E8D2}" v="606" dt="2026-10-01T14:02:33.4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81"/>
    <p:restoredTop sz="91928"/>
  </p:normalViewPr>
  <p:slideViewPr>
    <p:cSldViewPr>
      <p:cViewPr varScale="1">
        <p:scale>
          <a:sx n="133" d="100"/>
          <a:sy n="133" d="100"/>
        </p:scale>
        <p:origin x="168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-3126"/>
    </p:cViewPr>
  </p:sorterViewPr>
  <p:notesViewPr>
    <p:cSldViewPr>
      <p:cViewPr varScale="1">
        <p:scale>
          <a:sx n="85" d="100"/>
          <a:sy n="85" d="100"/>
        </p:scale>
        <p:origin x="-3660" y="-96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xana Pincheira L." userId="2f9b9d99-aeec-48fc-9a01-379e187c44c5" providerId="ADAL" clId="{31C86AC1-719E-5244-BFA1-3BAF07E90ED8}"/>
    <pc:docChg chg="modSld">
      <pc:chgData name="Roxana Pincheira L." userId="2f9b9d99-aeec-48fc-9a01-379e187c44c5" providerId="ADAL" clId="{31C86AC1-719E-5244-BFA1-3BAF07E90ED8}" dt="2025-05-05T14:08:47.468" v="124" actId="20577"/>
      <pc:docMkLst>
        <pc:docMk/>
      </pc:docMkLst>
      <pc:sldChg chg="modSp mod">
        <pc:chgData name="Roxana Pincheira L." userId="2f9b9d99-aeec-48fc-9a01-379e187c44c5" providerId="ADAL" clId="{31C86AC1-719E-5244-BFA1-3BAF07E90ED8}" dt="2025-05-05T14:08:47.468" v="124" actId="20577"/>
        <pc:sldMkLst>
          <pc:docMk/>
          <pc:sldMk cId="716274843" sldId="545"/>
        </pc:sldMkLst>
        <pc:spChg chg="mod">
          <ac:chgData name="Roxana Pincheira L." userId="2f9b9d99-aeec-48fc-9a01-379e187c44c5" providerId="ADAL" clId="{31C86AC1-719E-5244-BFA1-3BAF07E90ED8}" dt="2025-05-05T14:08:47.468" v="124" actId="20577"/>
          <ac:spMkLst>
            <pc:docMk/>
            <pc:sldMk cId="716274843" sldId="545"/>
            <ac:spMk id="5" creationId="{DA186340-6206-2F0A-D51E-DD7C267C9D63}"/>
          </ac:spMkLst>
        </pc:spChg>
      </pc:sldChg>
    </pc:docChg>
  </pc:docChgLst>
  <pc:docChgLst>
    <pc:chgData name="Roxana Pincheira L." userId="2f9b9d99-aeec-48fc-9a01-379e187c44c5" providerId="ADAL" clId="{89B82793-4423-244E-B6CE-14EEF203E8D2}"/>
    <pc:docChg chg="custSel addSld modSld sldOrd">
      <pc:chgData name="Roxana Pincheira L." userId="2f9b9d99-aeec-48fc-9a01-379e187c44c5" providerId="ADAL" clId="{89B82793-4423-244E-B6CE-14EEF203E8D2}" dt="2026-10-01T14:02:46.904" v="684" actId="20578"/>
      <pc:docMkLst>
        <pc:docMk/>
      </pc:docMkLst>
      <pc:sldChg chg="modSp">
        <pc:chgData name="Roxana Pincheira L." userId="2f9b9d99-aeec-48fc-9a01-379e187c44c5" providerId="ADAL" clId="{89B82793-4423-244E-B6CE-14EEF203E8D2}" dt="2026-10-01T13:16:42.750" v="33" actId="20577"/>
        <pc:sldMkLst>
          <pc:docMk/>
          <pc:sldMk cId="2541457798" sldId="540"/>
        </pc:sldMkLst>
        <pc:spChg chg="mod">
          <ac:chgData name="Roxana Pincheira L." userId="2f9b9d99-aeec-48fc-9a01-379e187c44c5" providerId="ADAL" clId="{89B82793-4423-244E-B6CE-14EEF203E8D2}" dt="2026-10-01T13:16:42.750" v="33" actId="20577"/>
          <ac:spMkLst>
            <pc:docMk/>
            <pc:sldMk cId="2541457798" sldId="540"/>
            <ac:spMk id="2" creationId="{B57CF510-87A5-199B-44A4-3EB0C73FF5C4}"/>
          </ac:spMkLst>
        </pc:spChg>
      </pc:sldChg>
      <pc:sldChg chg="modSp mod ord">
        <pc:chgData name="Roxana Pincheira L." userId="2f9b9d99-aeec-48fc-9a01-379e187c44c5" providerId="ADAL" clId="{89B82793-4423-244E-B6CE-14EEF203E8D2}" dt="2026-10-01T14:02:46.904" v="684" actId="20578"/>
        <pc:sldMkLst>
          <pc:docMk/>
          <pc:sldMk cId="579022393" sldId="541"/>
        </pc:sldMkLst>
        <pc:spChg chg="mod">
          <ac:chgData name="Roxana Pincheira L." userId="2f9b9d99-aeec-48fc-9a01-379e187c44c5" providerId="ADAL" clId="{89B82793-4423-244E-B6CE-14EEF203E8D2}" dt="2026-10-01T13:46:32.537" v="73" actId="20577"/>
          <ac:spMkLst>
            <pc:docMk/>
            <pc:sldMk cId="579022393" sldId="541"/>
            <ac:spMk id="12" creationId="{70349D1E-13B0-1005-83B3-AED1FCFCC904}"/>
          </ac:spMkLst>
        </pc:spChg>
      </pc:sldChg>
      <pc:sldChg chg="delSp modSp add mod ord delAnim modAnim">
        <pc:chgData name="Roxana Pincheira L." userId="2f9b9d99-aeec-48fc-9a01-379e187c44c5" providerId="ADAL" clId="{89B82793-4423-244E-B6CE-14EEF203E8D2}" dt="2026-10-01T14:02:37.706" v="683" actId="14100"/>
        <pc:sldMkLst>
          <pc:docMk/>
          <pc:sldMk cId="597118124" sldId="546"/>
        </pc:sldMkLst>
        <pc:spChg chg="mod">
          <ac:chgData name="Roxana Pincheira L." userId="2f9b9d99-aeec-48fc-9a01-379e187c44c5" providerId="ADAL" clId="{89B82793-4423-244E-B6CE-14EEF203E8D2}" dt="2026-10-01T13:55:36.505" v="112" actId="20577"/>
          <ac:spMkLst>
            <pc:docMk/>
            <pc:sldMk cId="597118124" sldId="546"/>
            <ac:spMk id="3" creationId="{E949C019-592B-022E-F926-3519957717C4}"/>
          </ac:spMkLst>
        </pc:spChg>
        <pc:spChg chg="mod">
          <ac:chgData name="Roxana Pincheira L." userId="2f9b9d99-aeec-48fc-9a01-379e187c44c5" providerId="ADAL" clId="{89B82793-4423-244E-B6CE-14EEF203E8D2}" dt="2026-10-01T14:02:37.706" v="683" actId="14100"/>
          <ac:spMkLst>
            <pc:docMk/>
            <pc:sldMk cId="597118124" sldId="546"/>
            <ac:spMk id="5" creationId="{C29C6135-F5A0-6013-5239-DCF3056ADCF5}"/>
          </ac:spMkLst>
        </pc:spChg>
        <pc:spChg chg="del">
          <ac:chgData name="Roxana Pincheira L." userId="2f9b9d99-aeec-48fc-9a01-379e187c44c5" providerId="ADAL" clId="{89B82793-4423-244E-B6CE-14EEF203E8D2}" dt="2026-10-01T13:59:06.960" v="547" actId="478"/>
          <ac:spMkLst>
            <pc:docMk/>
            <pc:sldMk cId="597118124" sldId="546"/>
            <ac:spMk id="7" creationId="{292C1502-4410-FC0D-B010-42CD9E240FC3}"/>
          </ac:spMkLst>
        </pc:spChg>
        <pc:spChg chg="del">
          <ac:chgData name="Roxana Pincheira L." userId="2f9b9d99-aeec-48fc-9a01-379e187c44c5" providerId="ADAL" clId="{89B82793-4423-244E-B6CE-14EEF203E8D2}" dt="2026-10-01T13:59:09.550" v="548" actId="478"/>
          <ac:spMkLst>
            <pc:docMk/>
            <pc:sldMk cId="597118124" sldId="546"/>
            <ac:spMk id="8" creationId="{214ACD46-47A2-1BCA-303E-17389899D914}"/>
          </ac:spMkLst>
        </pc:spChg>
        <pc:spChg chg="del">
          <ac:chgData name="Roxana Pincheira L." userId="2f9b9d99-aeec-48fc-9a01-379e187c44c5" providerId="ADAL" clId="{89B82793-4423-244E-B6CE-14EEF203E8D2}" dt="2026-10-01T13:59:11.722" v="549" actId="478"/>
          <ac:spMkLst>
            <pc:docMk/>
            <pc:sldMk cId="597118124" sldId="546"/>
            <ac:spMk id="46088" creationId="{14E534BC-8FC2-A8D6-9E5D-1E51253CDAEA}"/>
          </ac:spMkLst>
        </pc:spChg>
      </pc:sldChg>
    </pc:docChg>
  </pc:docChgLst>
  <pc:docChgLst>
    <pc:chgData name="Roxana Pincheira L." userId="2f9b9d99-aeec-48fc-9a01-379e187c44c5" providerId="ADAL" clId="{CB416E86-8DF4-E841-80C1-DCF5D90A9D72}"/>
    <pc:docChg chg="modSld">
      <pc:chgData name="Roxana Pincheira L." userId="2f9b9d99-aeec-48fc-9a01-379e187c44c5" providerId="ADAL" clId="{CB416E86-8DF4-E841-80C1-DCF5D90A9D72}" dt="2025-10-05T15:05:22.972" v="125" actId="20577"/>
      <pc:docMkLst>
        <pc:docMk/>
      </pc:docMkLst>
      <pc:sldChg chg="modSp mod">
        <pc:chgData name="Roxana Pincheira L." userId="2f9b9d99-aeec-48fc-9a01-379e187c44c5" providerId="ADAL" clId="{CB416E86-8DF4-E841-80C1-DCF5D90A9D72}" dt="2025-09-23T18:27:54.177" v="46" actId="20577"/>
        <pc:sldMkLst>
          <pc:docMk/>
          <pc:sldMk cId="0" sldId="312"/>
        </pc:sldMkLst>
        <pc:spChg chg="mod">
          <ac:chgData name="Roxana Pincheira L." userId="2f9b9d99-aeec-48fc-9a01-379e187c44c5" providerId="ADAL" clId="{CB416E86-8DF4-E841-80C1-DCF5D90A9D72}" dt="2025-09-23T18:27:54.177" v="46" actId="20577"/>
          <ac:spMkLst>
            <pc:docMk/>
            <pc:sldMk cId="0" sldId="312"/>
            <ac:spMk id="15361" creationId="{DF239EBD-7838-7603-D79E-A058713797DB}"/>
          </ac:spMkLst>
        </pc:spChg>
        <pc:spChg chg="mod">
          <ac:chgData name="Roxana Pincheira L." userId="2f9b9d99-aeec-48fc-9a01-379e187c44c5" providerId="ADAL" clId="{CB416E86-8DF4-E841-80C1-DCF5D90A9D72}" dt="2025-09-23T18:27:51.317" v="42" actId="20577"/>
          <ac:spMkLst>
            <pc:docMk/>
            <pc:sldMk cId="0" sldId="312"/>
            <ac:spMk id="15362" creationId="{1A0792E8-8D83-7B36-1AB4-16CA450C8075}"/>
          </ac:spMkLst>
        </pc:spChg>
      </pc:sldChg>
      <pc:sldChg chg="modSp mod">
        <pc:chgData name="Roxana Pincheira L." userId="2f9b9d99-aeec-48fc-9a01-379e187c44c5" providerId="ADAL" clId="{CB416E86-8DF4-E841-80C1-DCF5D90A9D72}" dt="2025-10-05T15:05:22.972" v="125" actId="20577"/>
        <pc:sldMkLst>
          <pc:docMk/>
          <pc:sldMk cId="716274843" sldId="545"/>
        </pc:sldMkLst>
        <pc:spChg chg="mod">
          <ac:chgData name="Roxana Pincheira L." userId="2f9b9d99-aeec-48fc-9a01-379e187c44c5" providerId="ADAL" clId="{CB416E86-8DF4-E841-80C1-DCF5D90A9D72}" dt="2025-10-05T15:05:22.972" v="125" actId="20577"/>
          <ac:spMkLst>
            <pc:docMk/>
            <pc:sldMk cId="716274843" sldId="545"/>
            <ac:spMk id="5" creationId="{DA186340-6206-2F0A-D51E-DD7C267C9D6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6327D10E-AFA6-19F8-74FB-7E0814C87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5" y="9188450"/>
            <a:ext cx="423863" cy="315913"/>
          </a:xfrm>
          <a:prstGeom prst="rect">
            <a:avLst/>
          </a:prstGeom>
          <a:noFill/>
          <a:ln>
            <a:noFill/>
          </a:ln>
        </p:spPr>
        <p:txBody>
          <a:bodyPr wrap="none" lIns="95655" tIns="46988" rIns="95655" bIns="46988" anchor="ctr">
            <a:spAutoFit/>
          </a:bodyPr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defRPr/>
            </a:pPr>
            <a:fld id="{10C63CF8-D214-4341-87A6-9015217AEF90}" type="slidenum">
              <a:rPr lang="en-US" altLang="en-US" sz="1500" smtClean="0">
                <a:latin typeface="Times New Roman" panose="02020603050405020304" pitchFamily="18" charset="0"/>
              </a:rPr>
              <a:pPr algn="r">
                <a:defRPr/>
              </a:pPr>
              <a:t>‹#›</a:t>
            </a:fld>
            <a:endParaRPr lang="en-US" altLang="en-US" sz="15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8D121E3-4EC7-3C80-C2BF-4414CF8A4B6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655" tIns="46988" rIns="95655" bIns="469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34D73011-3957-EF7F-A180-7149FE3D242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BF918C16-D37F-C9D8-9913-4F9A24BD0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5" y="9188450"/>
            <a:ext cx="423863" cy="315913"/>
          </a:xfrm>
          <a:prstGeom prst="rect">
            <a:avLst/>
          </a:prstGeom>
          <a:noFill/>
          <a:ln>
            <a:noFill/>
          </a:ln>
        </p:spPr>
        <p:txBody>
          <a:bodyPr wrap="none" lIns="95655" tIns="46988" rIns="95655" bIns="46988" anchor="ctr">
            <a:spAutoFit/>
          </a:bodyPr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defRPr/>
            </a:pPr>
            <a:fld id="{2C4A8713-F0AC-3341-8DF9-92BE55EAB7D4}" type="slidenum">
              <a:rPr lang="en-US" altLang="en-US" sz="1500" smtClean="0">
                <a:latin typeface="Times New Roman" panose="02020603050405020304" pitchFamily="18" charset="0"/>
              </a:rPr>
              <a:pPr algn="r">
                <a:defRPr/>
              </a:pPr>
              <a:t>‹#›</a:t>
            </a:fld>
            <a:endParaRPr lang="en-US" altLang="en-US" sz="15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E7D7D167-6E4B-41C1-1A0C-8EF6B52E69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3E3916B8-2833-C6F2-E28D-1C92DB9C7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65B42C0-8E73-D012-0664-F8B0199FC2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9231EDDC-37BF-E2E4-DC35-9D9D378A53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BE3AEF64-CA8D-8BB1-E864-C91AC43852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C872987E-885B-E1F6-32C0-735BEE9684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endParaRPr lang="es-ES" altLang="es-C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79EA49A5-EBD6-97DD-EBC8-83C3961379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8E4D38F2-1476-B0B7-C712-4A7DE2B9C8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endParaRPr lang="es-ES" altLang="es-CL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0592DABD-426D-2F6D-D7B1-4D612CBE4A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18D1EE3A-1DA5-3520-2813-0DDFB55FAA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endParaRPr lang="es-ES" altLang="es-C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9B43B5E2-B1CF-82FE-8C48-8924DC5C21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455E40FC-DEA8-B768-726B-D9CFF0EED7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endParaRPr lang="es-ES" altLang="es-C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25EAF5D5-65EF-47D7-42C2-AF280047D04B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D3E832F-6147-D448-B8A1-2AACC0F6B651}" type="slidenum">
              <a:rPr lang="en-US" altLang="es-CL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es-CL">
              <a:latin typeface="Arial" panose="020B0604020202020204" pitchFamily="34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F787CB6F-4D21-EE06-19A4-3711CC9EB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s-CL" altLang="es-CL" sz="1800">
              <a:latin typeface="Arial" panose="020B0604020202020204" pitchFamily="34" charset="0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D912BD6-33FD-B16C-5B0B-B4DE43C93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s-CL" sz="1000" i="1"/>
              <a:t>13</a:t>
            </a: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9F6E3966-0DF2-3867-27BA-7A6D6A05D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s-CL" altLang="es-CL" sz="1800">
              <a:latin typeface="Arial" panose="020B0604020202020204" pitchFamily="34" charset="0"/>
            </a:endParaRP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4BDAE61A-590E-F941-20E7-0308B9542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s-CL" altLang="es-CL" sz="1800">
              <a:latin typeface="Arial" panose="020B0604020202020204" pitchFamily="34" charset="0"/>
            </a:endParaRP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2FC102BC-5001-B1E9-8070-11990356C7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76B1B8F4-65CB-7997-B8CF-1BA2C7DCB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endParaRPr lang="es-CL" altLang="es-C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BDFF3747-B85E-9B38-ED63-4944058A32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A5C8BB9E-B37E-1502-ACB4-856F62CBA8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2591425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BDFF3747-B85E-9B38-ED63-4944058A32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A5C8BB9E-B37E-1502-ACB4-856F62CBA8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25387301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BDFF3747-B85E-9B38-ED63-4944058A32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A5C8BB9E-B37E-1502-ACB4-856F62CBA8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142861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67329-FFD9-3BEF-DDA1-251CD7576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BB01E3C9-56B9-6DEB-EC92-F1F70F602D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666B9985-66D0-2AEA-D2A5-29EAFA2554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2725676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0E2DB-328C-BFEE-E0E3-EBC94015A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BE614AC9-1A9C-1614-7E74-A6CEFEC83C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6C93A06A-D710-AEF2-9EF2-1E5D1A2F07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28040594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1F0BE796-1ABB-5DEA-8896-81EF06BB2B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BA4AE898-4637-B94B-D1B2-64EFFECAC0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endParaRPr lang="es-ES" altLang="es-CL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FE325E70-6BB0-412D-EE2D-24D7331011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C53CFCAD-D882-EBF0-847C-4C6081004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endParaRPr lang="es-ES" altLang="es-CL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CF10A-9864-FA46-D668-A9521577C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B73F7B5E-2242-F733-AC46-908F11D4BD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97639421-C345-5FE0-D125-D543F9892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r>
              <a:rPr lang="es-ES" altLang="es-CL" dirty="0"/>
              <a:t>8,6%</a:t>
            </a:r>
          </a:p>
        </p:txBody>
      </p:sp>
    </p:spTree>
    <p:extLst>
      <p:ext uri="{BB962C8B-B14F-4D97-AF65-F5344CB8AC3E}">
        <p14:creationId xmlns:p14="http://schemas.microsoft.com/office/powerpoint/2010/main" val="10761024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85CC0480-DA2A-1CCA-87B8-F0546D7AF2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2EEF6022-7F4E-F578-632A-864BBB30D9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endParaRPr lang="es-ES" altLang="es-CL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2484D-4191-0CBA-EFAD-589908A5D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BD889920-23D7-D971-DA01-D2B66DDF9B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581F8100-5AA6-7DF6-6987-7C2773F9B6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3309857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C1534-818E-FA2F-710A-23D5B2086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BC62D2DE-C812-7C35-9AC3-B33E5E8A91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6CB635A4-9267-FF7D-2115-418E2AC12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13317361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6ABD1-460B-D7FE-3F7A-F7C58D0BE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CDC3CA31-156A-DB12-0B4A-8EB7B3BE4E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9AB694CA-5029-4C85-4872-B2012D70DF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31486670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B46A3-F50B-15ED-729E-E5E394AD3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E23F0E40-BDD7-D69F-E39A-39388180A3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931F6574-26EE-3D2D-8020-8DF66AB769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37645385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DFB0D-D348-49B9-326E-04E68DE04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1A4B3051-C48A-1160-8A04-B349B8E608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22857E4D-CF31-079F-3A2A-58009B715F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endParaRPr lang="es-ES" altLang="es-CL" dirty="0"/>
          </a:p>
        </p:txBody>
      </p:sp>
    </p:spTree>
    <p:extLst>
      <p:ext uri="{BB962C8B-B14F-4D97-AF65-F5344CB8AC3E}">
        <p14:creationId xmlns:p14="http://schemas.microsoft.com/office/powerpoint/2010/main" val="37719556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DA8EE-1588-AC41-1543-87241CED0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7B3BE343-467F-B227-49C9-676D5A73C9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5F0AC315-9C93-B825-4E42-B0D1626C9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endParaRPr lang="es-ES" altLang="es-CL" dirty="0"/>
          </a:p>
        </p:txBody>
      </p:sp>
    </p:spTree>
    <p:extLst>
      <p:ext uri="{BB962C8B-B14F-4D97-AF65-F5344CB8AC3E}">
        <p14:creationId xmlns:p14="http://schemas.microsoft.com/office/powerpoint/2010/main" val="516078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ABDE45CA-57A4-EF1A-7117-08B615474C7A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FADC8132-DD58-C551-3EB7-858D749607A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>
                <a:defRPr/>
              </a:pPr>
              <a:endParaRPr lang="en-AU" altLang="en-US"/>
            </a:p>
          </p:txBody>
        </p:sp>
        <p:sp>
          <p:nvSpPr>
            <p:cNvPr id="4" name="Rectangle 9">
              <a:extLst>
                <a:ext uri="{FF2B5EF4-FFF2-40B4-BE49-F238E27FC236}">
                  <a16:creationId xmlns:a16="http://schemas.microsoft.com/office/drawing/2014/main" id="{B39373B4-3C9B-3E49-2B41-F04BECCCB70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>
                <a:defRPr/>
              </a:pPr>
              <a:endParaRPr lang="en-AU" altLang="en-US"/>
            </a:p>
          </p:txBody>
        </p:sp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B36E27E1-E0E8-40CF-E60F-6FF18A6F8D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>
                <a:defRPr/>
              </a:pPr>
              <a:endParaRPr lang="en-AU" altLang="en-US"/>
            </a:p>
          </p:txBody>
        </p:sp>
      </p:grpSp>
      <p:sp>
        <p:nvSpPr>
          <p:cNvPr id="139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0D6DD19-E66D-0559-C79D-168B4B7297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DFDAEFB-BC70-CB32-000E-A78712D0A9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Big Cheese Interactive Software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43514B3-FDCD-D1BD-70C0-ED70729EAA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C93D22-86EE-2F43-B6A8-0AD1A3AE20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823147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8A0A128-8DBD-C59A-5DA5-E933FF7099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219BD75-74E8-64B0-28F8-63C45D59E0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Big Cheese Interactive Software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6005829-9458-B4CD-6246-52089BC10E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CD824F-BB57-654D-A5CB-2D5A7E03B0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290264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765EA52-D2E7-B337-12B3-C81E6994B6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C7481C-1649-6A8B-5772-9BA9F312D8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Big Cheese Interactive Software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0CB9318-B1B6-5605-F655-17FA81913B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530DAD-D703-8044-8351-22C36697C7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200951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A08605-17BE-2B24-6925-8275121081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511E95-6EB1-7686-B48C-4AB4222604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Big Cheese Interactive Software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AC5F9-12BF-8DDB-D690-1A5D029952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4B7C33-8199-1E45-A1F8-C938A9DD0A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744880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E29C74D-9963-993D-DB0A-3F47CA7415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F2229CA-D1A3-AF51-A677-F9545A6DA1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Big Cheese Interactive Software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0DEA729-592A-5A6E-62B3-D8DB38F66C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6958AB-3B1C-C248-9E2E-7DFE8B0DCB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566902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39ECCE5-0A73-DE40-F6C0-A60A1C61C1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F91602B-D463-E644-8AA0-9D9DE1080A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Big Cheese Interactive Software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90E5CBD-F128-1356-0C74-E7F51FABEC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01E183-6752-434B-9746-70A7ABA506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374901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D269327-DB68-586B-A892-46EF46CADE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33CED59-416F-42E2-A0BA-92E1E7480A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Big Cheese Interactive Software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5B801FC-952C-99A2-E42F-88BBF9BB13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1EC24-1BFC-C54F-BEED-783116D724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42145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67E123-C384-4A6F-3DCF-1F4600322C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1F5A13-78EE-1E98-DE76-2BD8873E78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Big Cheese Interactive Software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97B035-3F95-7954-69FE-0B5DE41D8E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AEE81A-779C-6C40-BF6F-74E6B88B3F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723581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2F304D-45EC-651E-3AA3-4FE61C9237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D4EF13-88C3-CA4F-F535-03F98C5B7F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Big Cheese Interactive Software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C13D4B-EAE1-74F9-F28C-5ACDEBD7EB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A7C74C-4960-5442-B7A5-BFEF252AD5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9445166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780886-C341-451C-7976-DC994667E5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BBF482-DB24-2166-CE86-5B95256BD9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Big Cheese Interactive Software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0D5FA3E-6B28-B82F-F66D-F878E1AA4D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2A277A-F66B-6040-AD0F-AC54CA6685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834473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CAA14E-951B-1A71-4468-3EEC07F2D0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2C20AAB-A95A-E386-6E37-A1F7EEC930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Big Cheese Interactive Software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2E4538-ED64-D730-0F0F-90415826E8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24AC39-1DA8-F24C-A208-F8D3D320F9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465614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A204E29-B850-CD89-BF99-621B2ABB2B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DAE86A-3998-33BA-5904-DE4CBC601F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8244" name="Rectangle 4">
            <a:extLst>
              <a:ext uri="{FF2B5EF4-FFF2-40B4-BE49-F238E27FC236}">
                <a16:creationId xmlns:a16="http://schemas.microsoft.com/office/drawing/2014/main" id="{A2477D68-02CF-0135-8E70-EC2C65940E1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245" name="Rectangle 5">
            <a:extLst>
              <a:ext uri="{FF2B5EF4-FFF2-40B4-BE49-F238E27FC236}">
                <a16:creationId xmlns:a16="http://schemas.microsoft.com/office/drawing/2014/main" id="{A0005EA6-A9B8-CFD8-11F8-289C6342B8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r>
              <a:rPr lang="en-US"/>
              <a:t>© Big Cheese Interactive Software</a:t>
            </a:r>
          </a:p>
        </p:txBody>
      </p:sp>
      <p:sp>
        <p:nvSpPr>
          <p:cNvPr id="138246" name="Rectangle 6">
            <a:extLst>
              <a:ext uri="{FF2B5EF4-FFF2-40B4-BE49-F238E27FC236}">
                <a16:creationId xmlns:a16="http://schemas.microsoft.com/office/drawing/2014/main" id="{42DE094D-70F6-1C19-44AD-A0A218F11C0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9FBFA5D-1FE5-684D-B726-F28B3AC334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58D2B0D5-3781-436F-8F75-728C87376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C5068970-7878-E0BD-C0E2-D47932245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44780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L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D3543FE8-9BD9-CC60-9606-5031D3890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404487E3-4034-BE76-C9F9-AB66DB783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18" r:id="rId1"/>
    <p:sldLayoutId id="2147484308" r:id="rId2"/>
    <p:sldLayoutId id="2147484309" r:id="rId3"/>
    <p:sldLayoutId id="2147484310" r:id="rId4"/>
    <p:sldLayoutId id="2147484311" r:id="rId5"/>
    <p:sldLayoutId id="2147484312" r:id="rId6"/>
    <p:sldLayoutId id="2147484313" r:id="rId7"/>
    <p:sldLayoutId id="2147484314" r:id="rId8"/>
    <p:sldLayoutId id="2147484315" r:id="rId9"/>
    <p:sldLayoutId id="2147484316" r:id="rId10"/>
    <p:sldLayoutId id="2147484317" r:id="rId11"/>
  </p:sldLayoutIdLst>
  <p:transition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p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DF239EBD-7838-7603-D79E-A058713797D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87337" y="1609725"/>
            <a:ext cx="8496300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z="4400" dirty="0"/>
              <a:t>ADMI 140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1A0792E8-8D83-7B36-1AB4-16CA450C807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03350" y="3644900"/>
            <a:ext cx="6264275" cy="914400"/>
          </a:xfrm>
          <a:noFill/>
        </p:spPr>
        <p:txBody>
          <a:bodyPr lIns="90488" tIns="44450" rIns="90488" bIns="44450"/>
          <a:lstStyle/>
          <a:p>
            <a:pPr marL="342900" indent="-342900" eaLnBrk="1" hangingPunct="1"/>
            <a:r>
              <a:rPr lang="en-US" altLang="en-US" sz="4400" dirty="0">
                <a:solidFill>
                  <a:schemeClr val="tx2"/>
                </a:solidFill>
              </a:rPr>
              <a:t>FINANZAS CORPORATIVAS</a:t>
            </a:r>
          </a:p>
        </p:txBody>
      </p:sp>
      <p:sp>
        <p:nvSpPr>
          <p:cNvPr id="15363" name="Rectangle 6">
            <a:extLst>
              <a:ext uri="{FF2B5EF4-FFF2-40B4-BE49-F238E27FC236}">
                <a16:creationId xmlns:a16="http://schemas.microsoft.com/office/drawing/2014/main" id="{C6AC5C10-1E67-112A-73E9-A67E93917E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1E5BEA-9995-A643-BCF8-BAFB22A790FD}" type="slidenum">
              <a:rPr lang="en-US" altLang="en-US" sz="10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000">
              <a:latin typeface="Verdana" panose="020B0604030504040204" pitchFamily="34" charset="0"/>
            </a:endParaRPr>
          </a:p>
        </p:txBody>
      </p:sp>
      <p:sp>
        <p:nvSpPr>
          <p:cNvPr id="15364" name="CuadroTexto 1">
            <a:extLst>
              <a:ext uri="{FF2B5EF4-FFF2-40B4-BE49-F238E27FC236}">
                <a16:creationId xmlns:a16="http://schemas.microsoft.com/office/drawing/2014/main" id="{9B751574-086C-462B-F7B1-782713B74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974" y="4402769"/>
            <a:ext cx="464502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s-ES_tradnl" altLang="es-419" sz="1800" dirty="0">
              <a:latin typeface="Verdana" panose="020B060403050404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419" sz="1800" dirty="0">
                <a:latin typeface="Verdana" panose="020B0604030504040204" pitchFamily="34" charset="0"/>
              </a:rPr>
              <a:t>Dra. Roxana Pincheira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419" sz="1800" dirty="0" err="1">
                <a:latin typeface="Verdana" panose="020B0604030504040204" pitchFamily="34" charset="0"/>
              </a:rPr>
              <a:t>roxana.pincheira@uach.cl</a:t>
            </a:r>
            <a:endParaRPr lang="es-ES_tradnl" altLang="es-419" sz="1800" dirty="0">
              <a:latin typeface="Verdana" panose="020B0604030504040204" pitchFamily="34" charset="0"/>
            </a:endParaRPr>
          </a:p>
        </p:txBody>
      </p:sp>
      <p:pic>
        <p:nvPicPr>
          <p:cNvPr id="15365" name="Imagen 3">
            <a:extLst>
              <a:ext uri="{FF2B5EF4-FFF2-40B4-BE49-F238E27FC236}">
                <a16:creationId xmlns:a16="http://schemas.microsoft.com/office/drawing/2014/main" id="{5FCA70AA-D74A-A870-6580-D49EE0CAD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8263"/>
            <a:ext cx="1074738" cy="126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6">
            <a:extLst>
              <a:ext uri="{FF2B5EF4-FFF2-40B4-BE49-F238E27FC236}">
                <a16:creationId xmlns:a16="http://schemas.microsoft.com/office/drawing/2014/main" id="{FA972002-1E1F-8D83-7F7D-F97392C48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054BE2-E66C-0E49-B50A-79AF14F59E39}" type="slidenum">
              <a:rPr lang="en-US" altLang="en-US" sz="10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000">
              <a:latin typeface="Verdana" panose="020B0604030504040204" pitchFamily="34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9D6EA7D3-6AAA-7813-311A-11016F06FD7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altLang="en-US" sz="4400" dirty="0"/>
              <a:t>Interacción Riesgo-Retorno</a:t>
            </a:r>
          </a:p>
        </p:txBody>
      </p:sp>
      <p:pic>
        <p:nvPicPr>
          <p:cNvPr id="17412" name="Imagen 4">
            <a:extLst>
              <a:ext uri="{FF2B5EF4-FFF2-40B4-BE49-F238E27FC236}">
                <a16:creationId xmlns:a16="http://schemas.microsoft.com/office/drawing/2014/main" id="{21D5CC48-E059-F2EE-0BF2-9767894D4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1144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uadroTexto 1">
            <a:extLst>
              <a:ext uri="{FF2B5EF4-FFF2-40B4-BE49-F238E27FC236}">
                <a16:creationId xmlns:a16="http://schemas.microsoft.com/office/drawing/2014/main" id="{C065CFC3-B61E-8A2E-69E4-963F37273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989138"/>
            <a:ext cx="7704782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</a:pPr>
            <a:r>
              <a:rPr lang="es-CL" altLang="es-CL" sz="2000" dirty="0">
                <a:solidFill>
                  <a:schemeClr val="bg2"/>
                </a:solidFill>
                <a:latin typeface="Verdana" panose="020B0604030504040204" pitchFamily="34" charset="0"/>
              </a:rPr>
              <a:t>Los inversionistas pueden tener inversiones que ofrezcan rendimientos muy diferentes.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</a:pPr>
            <a:endParaRPr lang="es-CL" altLang="es-CL" sz="2000" dirty="0">
              <a:solidFill>
                <a:schemeClr val="bg2"/>
              </a:solidFill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</a:pPr>
            <a:r>
              <a:rPr lang="es-CL" altLang="es-CL" sz="2000" dirty="0">
                <a:solidFill>
                  <a:schemeClr val="bg2"/>
                </a:solidFill>
                <a:latin typeface="Verdana" panose="020B0604030504040204" pitchFamily="34" charset="0"/>
              </a:rPr>
              <a:t>Acciones son inversiones más riesgosas que los bonos.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</a:pPr>
            <a:endParaRPr lang="es-CL" altLang="es-CL" sz="2000" dirty="0">
              <a:solidFill>
                <a:schemeClr val="bg2"/>
              </a:solidFill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</a:pPr>
            <a:r>
              <a:rPr lang="es-CL" altLang="es-CL" sz="2000" dirty="0">
                <a:solidFill>
                  <a:schemeClr val="bg2"/>
                </a:solidFill>
                <a:latin typeface="Verdana" panose="020B0604030504040204" pitchFamily="34" charset="0"/>
              </a:rPr>
              <a:t>Acciones tienen rendimientos más elevados (compensación por mayor riesgo)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</a:pPr>
            <a:endParaRPr lang="es-CL" altLang="es-CL" sz="2000" dirty="0">
              <a:solidFill>
                <a:schemeClr val="bg2"/>
              </a:solidFill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</a:pPr>
            <a:r>
              <a:rPr lang="es-CL" altLang="es-CL" sz="2000" dirty="0">
                <a:solidFill>
                  <a:schemeClr val="bg2"/>
                </a:solidFill>
                <a:latin typeface="Verdana" panose="020B0604030504040204" pitchFamily="34" charset="0"/>
              </a:rPr>
              <a:t>Cuando una inversión es riesgosa existen distintos posibles rendimientos dependiendo de la situación económica.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</a:pPr>
            <a:endParaRPr lang="es-CL" altLang="es-CL" sz="2000" dirty="0">
              <a:solidFill>
                <a:schemeClr val="bg2"/>
              </a:solidFill>
              <a:latin typeface="Verdana" panose="020B060403050404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52C7788-7105-341D-8036-DC67DD8D6689}"/>
              </a:ext>
            </a:extLst>
          </p:cNvPr>
          <p:cNvSpPr/>
          <p:nvPr/>
        </p:nvSpPr>
        <p:spPr>
          <a:xfrm>
            <a:off x="1763713" y="620713"/>
            <a:ext cx="4967287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_tradnl" alt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Interacción Riesgo-Retorno</a:t>
            </a:r>
            <a:endParaRPr lang="es-CL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9459" name="Imagen 4">
            <a:extLst>
              <a:ext uri="{FF2B5EF4-FFF2-40B4-BE49-F238E27FC236}">
                <a16:creationId xmlns:a16="http://schemas.microsoft.com/office/drawing/2014/main" id="{2467CB63-1CEA-3CD7-82E7-D974C3BDC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55563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D284947-B681-8AA2-54D7-2CF5B30C2A45}"/>
              </a:ext>
            </a:extLst>
          </p:cNvPr>
          <p:cNvSpPr/>
          <p:nvPr/>
        </p:nvSpPr>
        <p:spPr>
          <a:xfrm>
            <a:off x="2303765" y="404324"/>
            <a:ext cx="496802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_tradnl" alt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Interacción Riesgo-Retorno</a:t>
            </a:r>
          </a:p>
          <a:p>
            <a:pPr algn="ctr">
              <a:defRPr/>
            </a:pPr>
            <a:r>
              <a:rPr lang="es-ES_tradnl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Bonos del tesoro</a:t>
            </a:r>
            <a:endParaRPr lang="es-CL" sz="32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1508" name="Imagen 5">
            <a:extLst>
              <a:ext uri="{FF2B5EF4-FFF2-40B4-BE49-F238E27FC236}">
                <a16:creationId xmlns:a16="http://schemas.microsoft.com/office/drawing/2014/main" id="{1F981A6B-7838-2209-41B4-66B0D77B0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55563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2D06702-3C3D-4C7E-EFFA-EB93F3FC5C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07" y="1705932"/>
            <a:ext cx="3755206" cy="2001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8D4C65-C911-0376-3BD0-6676452B9C46}"/>
              </a:ext>
            </a:extLst>
          </p:cNvPr>
          <p:cNvSpPr txBox="1"/>
          <p:nvPr/>
        </p:nvSpPr>
        <p:spPr>
          <a:xfrm>
            <a:off x="2699792" y="633545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L" sz="1400" dirty="0"/>
              <a:t>https://larrainvial.finmarketslive.cl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306EA9-FE72-C7E4-680C-62C83CE8D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876388"/>
            <a:ext cx="4352299" cy="1615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FB52A8-51B6-098B-C3D0-CBDB70860D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7010" y="3875162"/>
            <a:ext cx="6258030" cy="233591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6" name="Imagen 6">
            <a:extLst>
              <a:ext uri="{FF2B5EF4-FFF2-40B4-BE49-F238E27FC236}">
                <a16:creationId xmlns:a16="http://schemas.microsoft.com/office/drawing/2014/main" id="{13E55CB7-4944-D7EC-DF13-154B3E471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60648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8F47F3-94ED-BA0A-E008-254E972F3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768" y="1484784"/>
            <a:ext cx="6497597" cy="2421157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9669A1F-CB72-7B6E-B755-DA803D9929F6}"/>
              </a:ext>
            </a:extLst>
          </p:cNvPr>
          <p:cNvSpPr/>
          <p:nvPr/>
        </p:nvSpPr>
        <p:spPr>
          <a:xfrm>
            <a:off x="1493666" y="397213"/>
            <a:ext cx="6156667" cy="101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ES_tradnl" alt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Interacción Riesgo-Retorno</a:t>
            </a:r>
          </a:p>
          <a:p>
            <a:pPr algn="ctr">
              <a:defRPr/>
            </a:pPr>
            <a:r>
              <a:rPr lang="es-ES_tradnl" altLang="en-US" sz="3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Mercado de acciones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B81320-D7B5-F1CA-F84B-2F05F58AEA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3688" y="4041032"/>
            <a:ext cx="6102670" cy="266436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86BA639-5A4A-7BC6-274C-C2E3D1727398}"/>
              </a:ext>
            </a:extLst>
          </p:cNvPr>
          <p:cNvSpPr/>
          <p:nvPr/>
        </p:nvSpPr>
        <p:spPr>
          <a:xfrm>
            <a:off x="2522051" y="387442"/>
            <a:ext cx="41713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ES_tradnl" altLang="en-US" sz="20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Interacción Riesgo-Retorno</a:t>
            </a:r>
            <a:endParaRPr lang="es-CL" sz="20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7650" name="Imagen 3">
            <a:extLst>
              <a:ext uri="{FF2B5EF4-FFF2-40B4-BE49-F238E27FC236}">
                <a16:creationId xmlns:a16="http://schemas.microsoft.com/office/drawing/2014/main" id="{88E5E6CE-56E2-3D8C-96B1-9E458AD34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93" y="258354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96A619BF-43FE-90A7-BBD5-1E3CEF55D645}"/>
              </a:ext>
            </a:extLst>
          </p:cNvPr>
          <p:cNvSpPr/>
          <p:nvPr/>
        </p:nvSpPr>
        <p:spPr>
          <a:xfrm>
            <a:off x="1750205" y="731338"/>
            <a:ext cx="64155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s-CL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Chile: Mercado de acciones</a:t>
            </a:r>
          </a:p>
        </p:txBody>
      </p:sp>
      <p:sp>
        <p:nvSpPr>
          <p:cNvPr id="30726" name="Rectángulo 14">
            <a:extLst>
              <a:ext uri="{FF2B5EF4-FFF2-40B4-BE49-F238E27FC236}">
                <a16:creationId xmlns:a16="http://schemas.microsoft.com/office/drawing/2014/main" id="{C0E9109E-3D43-F33D-6396-E56FEFA6B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712" y="1690698"/>
            <a:ext cx="8118751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</a:pPr>
            <a:r>
              <a:rPr lang="es-CL" altLang="es-CL" sz="1600" dirty="0">
                <a:solidFill>
                  <a:schemeClr val="bg2"/>
                </a:solidFill>
                <a:latin typeface="Verdana" panose="020B0604030504040204" pitchFamily="34" charset="0"/>
              </a:rPr>
              <a:t>Estados Unidos tiene más de 230 años de historia en el Mercado de Capitales.</a:t>
            </a:r>
          </a:p>
          <a:p>
            <a:pPr>
              <a:spcBef>
                <a:spcPct val="0"/>
              </a:spcBef>
              <a:buClrTx/>
              <a:buSzTx/>
            </a:pPr>
            <a:r>
              <a:rPr lang="es-CL" altLang="es-CL" sz="1600" dirty="0">
                <a:solidFill>
                  <a:schemeClr val="bg2"/>
                </a:solidFill>
                <a:latin typeface="Verdana" panose="020B0604030504040204" pitchFamily="34" charset="0"/>
              </a:rPr>
              <a:t>NYSE (Bolsa de Nueva York) fue fundada en 1792 y NASDAQ en 1971.</a:t>
            </a:r>
          </a:p>
          <a:p>
            <a:pPr>
              <a:spcBef>
                <a:spcPct val="0"/>
              </a:spcBef>
              <a:buClrTx/>
              <a:buSzTx/>
            </a:pPr>
            <a:r>
              <a:rPr lang="es-CL" altLang="es-CL" sz="1600" dirty="0">
                <a:solidFill>
                  <a:schemeClr val="bg2"/>
                </a:solidFill>
                <a:latin typeface="Verdana" panose="020B0604030504040204" pitchFamily="34" charset="0"/>
              </a:rPr>
              <a:t>La Bolsa de Comercio de Santiago (BCS) existe desde 1893.</a:t>
            </a:r>
          </a:p>
          <a:p>
            <a:pPr>
              <a:spcBef>
                <a:spcPct val="0"/>
              </a:spcBef>
              <a:buClrTx/>
              <a:buSzTx/>
            </a:pPr>
            <a:r>
              <a:rPr lang="es-CL" altLang="es-CL" sz="1600" dirty="0">
                <a:solidFill>
                  <a:schemeClr val="bg2"/>
                </a:solidFill>
                <a:latin typeface="Verdana" panose="020B0604030504040204" pitchFamily="34" charset="0"/>
              </a:rPr>
              <a:t>La Bolsa Electrónica de Chile (BEC) fundada en 1989.</a:t>
            </a:r>
          </a:p>
          <a:p>
            <a:pPr>
              <a:spcBef>
                <a:spcPct val="0"/>
              </a:spcBef>
              <a:buClrTx/>
              <a:buSzTx/>
            </a:pPr>
            <a:r>
              <a:rPr lang="es-CL" altLang="es-CL" sz="1600" dirty="0">
                <a:solidFill>
                  <a:schemeClr val="bg2"/>
                </a:solidFill>
                <a:latin typeface="Verdana" panose="020B0604030504040204" pitchFamily="34" charset="0"/>
              </a:rPr>
              <a:t>Más del 90% de las acciones transadas en Chile pasa por BCS</a:t>
            </a:r>
          </a:p>
          <a:p>
            <a:pPr>
              <a:spcBef>
                <a:spcPct val="0"/>
              </a:spcBef>
              <a:buClrTx/>
              <a:buSzTx/>
            </a:pPr>
            <a:r>
              <a:rPr lang="es-CL" altLang="es-CL" sz="1600" dirty="0">
                <a:solidFill>
                  <a:schemeClr val="bg2"/>
                </a:solidFill>
                <a:latin typeface="Verdana" panose="020B0604030504040204" pitchFamily="34" charset="0"/>
              </a:rPr>
              <a:t>La BEC complementa, opera en segmentos como renta fija y operaciones entre bancos.</a:t>
            </a:r>
            <a:endParaRPr lang="es-CL" altLang="es-CL" sz="1800" dirty="0">
              <a:solidFill>
                <a:schemeClr val="bg2"/>
              </a:solidFill>
              <a:latin typeface="Verdan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4F5534-F32F-4D93-78FE-DD369643D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3752801"/>
            <a:ext cx="7315369" cy="275249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07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CE01212F-F88A-212C-913D-0F61472F6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CL" altLang="es-CL" sz="1800">
              <a:latin typeface="Arial" panose="020B0604020202020204" pitchFamily="34" charset="0"/>
            </a:endParaRP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4B0815F9-00C3-6765-213C-330C80098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CL" altLang="es-CL" sz="1800">
              <a:latin typeface="Arial" panose="020B0604020202020204" pitchFamily="34" charset="0"/>
            </a:endParaRPr>
          </a:p>
        </p:txBody>
      </p:sp>
      <p:sp>
        <p:nvSpPr>
          <p:cNvPr id="6148" name="Rectangle 6">
            <a:extLst>
              <a:ext uri="{FF2B5EF4-FFF2-40B4-BE49-F238E27FC236}">
                <a16:creationId xmlns:a16="http://schemas.microsoft.com/office/drawing/2014/main" id="{0DADD81E-75D6-E267-5038-1503A5DFF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2026" y="594128"/>
            <a:ext cx="5737148" cy="4591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8" tIns="44450" rIns="90488" bIns="44450" anchor="ctr">
            <a:spAutoFit/>
          </a:bodyPr>
          <a:lstStyle>
            <a:lvl1pPr defTabSz="762000" eaLnBrk="0" hangingPunct="0">
              <a:spcBef>
                <a:spcPct val="20000"/>
              </a:spcBef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s-CL" sz="2400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Rentabilidad</a:t>
            </a:r>
            <a:r>
              <a:rPr lang="en-US" altLang="es-CL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 y Prima </a:t>
            </a:r>
            <a:r>
              <a:rPr lang="en-US" altLang="es-CL" sz="2400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por</a:t>
            </a:r>
            <a:r>
              <a:rPr lang="en-US" altLang="es-CL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 </a:t>
            </a:r>
            <a:r>
              <a:rPr lang="en-US" altLang="es-CL" sz="2400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Riesgo</a:t>
            </a:r>
            <a:endParaRPr lang="en-US" altLang="es-CL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</a:endParaRPr>
          </a:p>
        </p:txBody>
      </p:sp>
      <p:graphicFrame>
        <p:nvGraphicFramePr>
          <p:cNvPr id="57351" name="Object 7">
            <a:extLst>
              <a:ext uri="{FF2B5EF4-FFF2-40B4-BE49-F238E27FC236}">
                <a16:creationId xmlns:a16="http://schemas.microsoft.com/office/drawing/2014/main" id="{6049FCE8-A285-191F-CB85-ABF59D148E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222697"/>
              </p:ext>
            </p:extLst>
          </p:nvPr>
        </p:nvGraphicFramePr>
        <p:xfrm>
          <a:off x="699492" y="3739946"/>
          <a:ext cx="7924800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Hoja de cálculo" r:id="rId3" imgW="3924300" imgH="812800" progId="Excel.Sheet.8">
                  <p:embed/>
                </p:oleObj>
              </mc:Choice>
              <mc:Fallback>
                <p:oleObj name="Hoja de cálculo" r:id="rId3" imgW="3924300" imgH="812800" progId="Excel.Sheet.8">
                  <p:embed/>
                  <p:pic>
                    <p:nvPicPr>
                      <p:cNvPr id="57351" name="Object 7">
                        <a:extLst>
                          <a:ext uri="{FF2B5EF4-FFF2-40B4-BE49-F238E27FC236}">
                            <a16:creationId xmlns:a16="http://schemas.microsoft.com/office/drawing/2014/main" id="{6049FCE8-A285-191F-CB85-ABF59D148E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492" y="3739946"/>
                        <a:ext cx="7924800" cy="164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4">
            <a:extLst>
              <a:ext uri="{FF2B5EF4-FFF2-40B4-BE49-F238E27FC236}">
                <a16:creationId xmlns:a16="http://schemas.microsoft.com/office/drawing/2014/main" id="{9D136B7E-53BE-627F-2128-554965DC7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69" y="1590691"/>
            <a:ext cx="7993062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</a:pPr>
            <a:r>
              <a:rPr lang="es-CL" altLang="es-CL" sz="1800" b="1" dirty="0">
                <a:solidFill>
                  <a:schemeClr val="bg2"/>
                </a:solidFill>
                <a:latin typeface="Verdana" panose="020B0604030504040204" pitchFamily="34" charset="0"/>
              </a:rPr>
              <a:t>Premio por riesgo</a:t>
            </a:r>
            <a:r>
              <a:rPr lang="es-CL" altLang="es-CL" sz="1800" dirty="0">
                <a:solidFill>
                  <a:schemeClr val="bg2"/>
                </a:solidFill>
                <a:latin typeface="Verdana" panose="020B0604030504040204" pitchFamily="34" charset="0"/>
              </a:rPr>
              <a:t>: Corresponde a la recompensa adicional que reciben los inversionistas por tomar riesgo adicional. Es la cantidad adicional que el inversionista recibe sobre la rentabilidad libre de riesgo (</a:t>
            </a:r>
            <a:r>
              <a:rPr lang="es-CL" altLang="es-CL" sz="1800" dirty="0" err="1">
                <a:solidFill>
                  <a:schemeClr val="bg2"/>
                </a:solidFill>
                <a:latin typeface="Verdana" panose="020B0604030504040204" pitchFamily="34" charset="0"/>
              </a:rPr>
              <a:t>rf</a:t>
            </a:r>
            <a:r>
              <a:rPr lang="es-CL" altLang="es-CL" sz="1800" dirty="0">
                <a:solidFill>
                  <a:schemeClr val="bg2"/>
                </a:solidFill>
                <a:latin typeface="Verdana" panose="020B0604030504040204" pitchFamily="34" charset="0"/>
              </a:rPr>
              <a:t>)</a:t>
            </a:r>
          </a:p>
          <a:p>
            <a:pPr algn="just">
              <a:spcBef>
                <a:spcPct val="0"/>
              </a:spcBef>
              <a:buClrTx/>
              <a:buSzTx/>
            </a:pPr>
            <a:r>
              <a:rPr lang="es-CL" altLang="es-CL" sz="1800" b="1" dirty="0">
                <a:solidFill>
                  <a:schemeClr val="bg2"/>
                </a:solidFill>
                <a:latin typeface="Verdana" panose="020B0604030504040204" pitchFamily="34" charset="0"/>
              </a:rPr>
              <a:t>Tasa libre de riesgo</a:t>
            </a:r>
            <a:r>
              <a:rPr lang="es-CL" altLang="es-CL" sz="1800" dirty="0">
                <a:solidFill>
                  <a:schemeClr val="bg2"/>
                </a:solidFill>
                <a:latin typeface="Verdana" panose="020B0604030504040204" pitchFamily="34" charset="0"/>
              </a:rPr>
              <a:t>: Corresponde al retorno que los inversionistas puedes recibir por invertir en un activo libre de riesgo.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E7A26-92D1-589A-262E-BCE9D656B6AD}"/>
              </a:ext>
            </a:extLst>
          </p:cNvPr>
          <p:cNvSpPr txBox="1"/>
          <p:nvPr/>
        </p:nvSpPr>
        <p:spPr>
          <a:xfrm>
            <a:off x="699492" y="5925234"/>
            <a:ext cx="792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altLang="es-CL" sz="1800" b="1" dirty="0">
                <a:solidFill>
                  <a:schemeClr val="bg2"/>
                </a:solidFill>
                <a:latin typeface="Verdana" panose="020B0604030504040204" pitchFamily="34" charset="0"/>
              </a:rPr>
              <a:t>En términos generales, mientras más riesgo, mayor retorno ofrece el activo de inversión</a:t>
            </a:r>
            <a:endParaRPr lang="en-CL" b="1" dirty="0"/>
          </a:p>
        </p:txBody>
      </p:sp>
      <p:pic>
        <p:nvPicPr>
          <p:cNvPr id="5" name="Imagen 6">
            <a:extLst>
              <a:ext uri="{FF2B5EF4-FFF2-40B4-BE49-F238E27FC236}">
                <a16:creationId xmlns:a16="http://schemas.microsoft.com/office/drawing/2014/main" id="{FB74A596-CBE9-FF7F-3308-6ABB43C79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92" y="290743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Imagen 3">
            <a:extLst>
              <a:ext uri="{FF2B5EF4-FFF2-40B4-BE49-F238E27FC236}">
                <a16:creationId xmlns:a16="http://schemas.microsoft.com/office/drawing/2014/main" id="{3F81D2FC-26F7-D303-4E21-37EF3A93C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547" y="287513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D5A0A9-1DD2-8455-3F91-FF95EFD4E63B}"/>
              </a:ext>
            </a:extLst>
          </p:cNvPr>
          <p:cNvSpPr txBox="1"/>
          <p:nvPr/>
        </p:nvSpPr>
        <p:spPr>
          <a:xfrm>
            <a:off x="709547" y="3134930"/>
            <a:ext cx="141159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C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Retorno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EB2CBF6-A481-E0F2-9B3D-E2DB36AB5B93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2121137" y="3319596"/>
            <a:ext cx="11547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C2B7882-A853-7E88-F6FD-8E38AACEFE7B}"/>
              </a:ext>
            </a:extLst>
          </p:cNvPr>
          <p:cNvSpPr txBox="1"/>
          <p:nvPr/>
        </p:nvSpPr>
        <p:spPr>
          <a:xfrm>
            <a:off x="3275856" y="1919212"/>
            <a:ext cx="5306396" cy="280076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CL" sz="1600" dirty="0"/>
              <a:t>Representa la performance de una inversión. El retorno indica el incremento en porcentaje del valor de una inversión por un peso inicialmente invertido.</a:t>
            </a:r>
          </a:p>
          <a:p>
            <a:pPr algn="just"/>
            <a:r>
              <a:rPr lang="es-CL" altLang="es-CL" sz="1600" dirty="0"/>
              <a:t>Los diferentes activos financieros tienen diferentes precios iniciales, pagan cantidades de dividendos diferentes y se venden en distintas cantidades futuras.</a:t>
            </a:r>
          </a:p>
          <a:p>
            <a:pPr algn="just"/>
            <a:r>
              <a:rPr lang="es-CL" altLang="es-CL" sz="1600" dirty="0"/>
              <a:t>Para que sean comparables sus desempeños utilizamos los retornos.</a:t>
            </a:r>
          </a:p>
          <a:p>
            <a:pPr algn="just"/>
            <a:endParaRPr lang="es-CL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EA0B17-8440-3C5A-DAFD-7E7CF3DBD55C}"/>
              </a:ext>
            </a:extLst>
          </p:cNvPr>
          <p:cNvSpPr txBox="1"/>
          <p:nvPr/>
        </p:nvSpPr>
        <p:spPr>
          <a:xfrm>
            <a:off x="782702" y="5511669"/>
            <a:ext cx="126528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Riesgo</a:t>
            </a:r>
            <a:endParaRPr lang="en-A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8976FFC-C8B4-7337-8E19-E7BFF79ECCDA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2047983" y="5696335"/>
            <a:ext cx="12278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86C3A69-A754-B2A6-8D69-00D7DA160FD7}"/>
              </a:ext>
            </a:extLst>
          </p:cNvPr>
          <p:cNvSpPr txBox="1"/>
          <p:nvPr/>
        </p:nvSpPr>
        <p:spPr>
          <a:xfrm>
            <a:off x="3275856" y="5157726"/>
            <a:ext cx="5306396" cy="10772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CL" sz="1600" dirty="0"/>
              <a:t>El riesgo involucra la posibilidad de que el retorno real difiera del retorno esperado. Incluyendo la opción de perder parte o toda la inversión original.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7BB3A1-05F2-428A-B9BE-68CFC1662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7704" y="575254"/>
            <a:ext cx="5793254" cy="643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8" tIns="44450" rIns="90488" bIns="44450" anchor="ctr">
            <a:spAutoFit/>
          </a:bodyPr>
          <a:lstStyle>
            <a:lvl1pPr defTabSz="762000" eaLnBrk="0" hangingPunct="0">
              <a:spcBef>
                <a:spcPct val="20000"/>
              </a:spcBef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s-CL" sz="3600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Rentabilidad</a:t>
            </a:r>
            <a:r>
              <a:rPr lang="en-US" altLang="es-CL" sz="3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 y </a:t>
            </a:r>
            <a:r>
              <a:rPr lang="en-US" altLang="es-CL" sz="3600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Riesgo</a:t>
            </a:r>
            <a:endParaRPr lang="en-US" altLang="es-CL" sz="3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8423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9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532CAE79-5650-EEFB-83FE-A5938C341E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03648" y="188640"/>
            <a:ext cx="6696149" cy="1139825"/>
          </a:xfrm>
        </p:spPr>
        <p:txBody>
          <a:bodyPr/>
          <a:lstStyle/>
          <a:p>
            <a:pPr algn="ctr" defTabSz="762000" eaLnBrk="1" hangingPunct="1">
              <a:spcAft>
                <a:spcPct val="67000"/>
              </a:spcAft>
            </a:pPr>
            <a:r>
              <a:rPr lang="en-US" altLang="es-CL" sz="30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Retorno</a:t>
            </a:r>
            <a:r>
              <a:rPr lang="en-US" altLang="es-CL" sz="3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es-CL" sz="30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Esperado</a:t>
            </a:r>
            <a:r>
              <a:rPr lang="en-US" altLang="es-CL" sz="3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Con </a:t>
            </a:r>
            <a:r>
              <a:rPr lang="en-US" altLang="es-CL" sz="30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Probabilidades</a:t>
            </a:r>
            <a:r>
              <a:rPr lang="en-US" altLang="es-CL" sz="3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altLang="es-CL" sz="30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Ocurrencia</a:t>
            </a:r>
            <a:endParaRPr lang="en-US" altLang="es-CL" sz="30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4818" name="Imagen 3">
            <a:extLst>
              <a:ext uri="{FF2B5EF4-FFF2-40B4-BE49-F238E27FC236}">
                <a16:creationId xmlns:a16="http://schemas.microsoft.com/office/drawing/2014/main" id="{3F81D2FC-26F7-D303-4E21-37EF3A93C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81" y="333896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48AB6C-0C66-9998-A0AA-93789D4D96F4}"/>
              </a:ext>
            </a:extLst>
          </p:cNvPr>
          <p:cNvSpPr txBox="1"/>
          <p:nvPr/>
        </p:nvSpPr>
        <p:spPr>
          <a:xfrm>
            <a:off x="601662" y="1484784"/>
            <a:ext cx="806489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itchFamily="2" charset="2"/>
              <a:buChar char="q"/>
            </a:pPr>
            <a:r>
              <a:rPr lang="es-CL" sz="1600" b="1" dirty="0">
                <a:solidFill>
                  <a:schemeClr val="bg2"/>
                </a:solidFill>
              </a:rPr>
              <a:t>Cuando hablamos de rentabilidad esperada de una acción, bono o índice, no es un valor garantizado, sino que depende de múltiples factores inciertos.</a:t>
            </a:r>
          </a:p>
          <a:p>
            <a:pPr algn="just"/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itchFamily="2" charset="2"/>
              <a:buChar char="q"/>
            </a:pPr>
            <a:r>
              <a:rPr lang="es-CL" sz="1600" b="1" dirty="0">
                <a:solidFill>
                  <a:schemeClr val="bg2"/>
                </a:solidFill>
              </a:rPr>
              <a:t>Para este enfoque utilizamos escenarios posibles para una inversión y asignamos probabilidad de ocurrencia a cada uno de ellos.</a:t>
            </a:r>
          </a:p>
          <a:p>
            <a:pPr algn="just"/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itchFamily="2" charset="2"/>
              <a:buChar char="q"/>
            </a:pPr>
            <a:r>
              <a:rPr lang="es-CL" sz="1600" b="1" dirty="0">
                <a:solidFill>
                  <a:schemeClr val="bg2"/>
                </a:solidFill>
              </a:rPr>
              <a:t>Podemos calcular el retorno esperado a partir de la ponderación de los posibles retornos, donde la ponderación corresponde a las probabilidades. Este retorno se ganaría en promedio si pudiéramos repetir la inversión más de una vez.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A37E4B-2124-45AF-30CB-B5675C174EFE}"/>
                  </a:ext>
                </a:extLst>
              </p:cNvPr>
              <p:cNvSpPr txBox="1"/>
              <p:nvPr/>
            </p:nvSpPr>
            <p:spPr>
              <a:xfrm>
                <a:off x="1799692" y="5157192"/>
                <a:ext cx="5544616" cy="77309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400" b="0" i="1" smtClean="0">
                          <a:latin typeface="Cambria Math" panose="02040503050406030204" pitchFamily="18" charset="0"/>
                        </a:rPr>
                        <m:t>𝑅𝑒𝑡𝑜𝑟𝑛𝑜</m:t>
                      </m:r>
                      <m:r>
                        <a:rPr lang="es-CL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L" sz="2400" b="0" i="1" smtClean="0">
                          <a:latin typeface="Cambria Math" panose="02040503050406030204" pitchFamily="18" charset="0"/>
                        </a:rPr>
                        <m:t>𝑒𝑠𝑝𝑒𝑟𝑎𝑑𝑜</m:t>
                      </m:r>
                      <m:r>
                        <a:rPr lang="es-C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L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s-CL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s-CL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CL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L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nary>
                    </m:oMath>
                  </m:oMathPara>
                </a14:m>
                <a:endParaRPr lang="es-CL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A37E4B-2124-45AF-30CB-B5675C174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692" y="5157192"/>
                <a:ext cx="5544616" cy="773097"/>
              </a:xfrm>
              <a:prstGeom prst="rect">
                <a:avLst/>
              </a:prstGeom>
              <a:blipFill>
                <a:blip r:embed="rId4"/>
                <a:stretch>
                  <a:fillRect t="-171429" b="-24127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64872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532CAE79-5650-EEFB-83FE-A5938C341E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03648" y="260648"/>
            <a:ext cx="6696149" cy="1139825"/>
          </a:xfrm>
        </p:spPr>
        <p:txBody>
          <a:bodyPr/>
          <a:lstStyle/>
          <a:p>
            <a:pPr algn="ctr" defTabSz="762000" eaLnBrk="1" hangingPunct="1">
              <a:spcAft>
                <a:spcPct val="67000"/>
              </a:spcAft>
            </a:pPr>
            <a:r>
              <a:rPr lang="en-US" altLang="es-CL" sz="3000" b="1" dirty="0" err="1"/>
              <a:t>Riesgo</a:t>
            </a:r>
            <a:r>
              <a:rPr lang="en-US" altLang="es-CL" sz="3000" b="1" dirty="0"/>
              <a:t> </a:t>
            </a:r>
            <a:r>
              <a:rPr lang="en-US" altLang="es-CL" sz="3000" b="1" dirty="0" err="1"/>
              <a:t>Esperado</a:t>
            </a:r>
            <a:r>
              <a:rPr lang="en-US" altLang="es-CL" sz="3000" b="1" dirty="0"/>
              <a:t> Con </a:t>
            </a:r>
            <a:r>
              <a:rPr lang="en-US" altLang="es-CL" sz="3000" b="1" dirty="0" err="1"/>
              <a:t>Probabilidades</a:t>
            </a:r>
            <a:r>
              <a:rPr lang="en-US" altLang="es-CL" sz="3000" b="1" dirty="0"/>
              <a:t> de </a:t>
            </a:r>
            <a:r>
              <a:rPr lang="en-US" altLang="es-CL" sz="3000" b="1" dirty="0" err="1"/>
              <a:t>Ocurrencia</a:t>
            </a:r>
            <a:endParaRPr lang="en-US" altLang="es-CL" sz="3000" b="1" dirty="0"/>
          </a:p>
        </p:txBody>
      </p:sp>
      <p:pic>
        <p:nvPicPr>
          <p:cNvPr id="34818" name="Imagen 3">
            <a:extLst>
              <a:ext uri="{FF2B5EF4-FFF2-40B4-BE49-F238E27FC236}">
                <a16:creationId xmlns:a16="http://schemas.microsoft.com/office/drawing/2014/main" id="{3F81D2FC-26F7-D303-4E21-37EF3A93C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49213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48AB6C-0C66-9998-A0AA-93789D4D96F4}"/>
              </a:ext>
            </a:extLst>
          </p:cNvPr>
          <p:cNvSpPr txBox="1"/>
          <p:nvPr/>
        </p:nvSpPr>
        <p:spPr>
          <a:xfrm>
            <a:off x="601662" y="1640708"/>
            <a:ext cx="79928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ü"/>
            </a:pPr>
            <a:r>
              <a:rPr lang="es-CL" dirty="0"/>
              <a:t>Considerando un modelo bajo las probabilidades de ocurrencia, podemos obtener un riesgo en base a ponderaciones de riesgos por un activo financiero.</a:t>
            </a:r>
          </a:p>
          <a:p>
            <a:pPr algn="just"/>
            <a:endParaRPr lang="es-CL" dirty="0"/>
          </a:p>
          <a:p>
            <a:pPr marL="285750" indent="-285750" algn="just">
              <a:buFont typeface="Wingdings" pitchFamily="2" charset="2"/>
              <a:buChar char="ü"/>
            </a:pPr>
            <a:r>
              <a:rPr lang="es-CL" dirty="0"/>
              <a:t>Si el rendimiento carece de riesgo y nunca se desvía de su media, la varianza será igual a 0. De lo contrario, la varianza se incrementa con la magnitud de las desviaciones a partir de la media.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E06344-80ED-B796-AC8C-189817D6E7D6}"/>
                  </a:ext>
                </a:extLst>
              </p:cNvPr>
              <p:cNvSpPr txBox="1"/>
              <p:nvPr/>
            </p:nvSpPr>
            <p:spPr>
              <a:xfrm>
                <a:off x="1115616" y="4162144"/>
                <a:ext cx="6120680" cy="659668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sSup>
                            <m:sSupPr>
                              <m:ctrlP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AU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0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</m:e>
                            <m:sup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AU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0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E06344-80ED-B796-AC8C-189817D6E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4162144"/>
                <a:ext cx="6120680" cy="659668"/>
              </a:xfrm>
              <a:prstGeom prst="rect">
                <a:avLst/>
              </a:prstGeom>
              <a:blipFill>
                <a:blip r:embed="rId4"/>
                <a:stretch>
                  <a:fillRect t="-162963" b="-231481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F91689-794E-4637-6F6A-55A2FD22FA0B}"/>
                  </a:ext>
                </a:extLst>
              </p:cNvPr>
              <p:cNvSpPr txBox="1"/>
              <p:nvPr/>
            </p:nvSpPr>
            <p:spPr>
              <a:xfrm>
                <a:off x="4538191" y="5047823"/>
                <a:ext cx="2147777" cy="42774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𝑆𝐷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F91689-794E-4637-6F6A-55A2FD22F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191" y="5047823"/>
                <a:ext cx="2147777" cy="427746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3F3CFEA-D626-35F1-BBAB-B56AF71E5CBE}"/>
              </a:ext>
            </a:extLst>
          </p:cNvPr>
          <p:cNvSpPr txBox="1"/>
          <p:nvPr/>
        </p:nvSpPr>
        <p:spPr>
          <a:xfrm>
            <a:off x="993993" y="5107808"/>
            <a:ext cx="2233259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sz="1400" b="1" dirty="0"/>
              <a:t>Standard deviation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81DF7F9-5F6D-F3A6-B33B-3BDE091A83AF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 flipV="1">
            <a:off x="3227252" y="5261696"/>
            <a:ext cx="131093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8E676A0-98C6-3D5D-7D4F-D7ED212E488E}"/>
              </a:ext>
            </a:extLst>
          </p:cNvPr>
          <p:cNvSpPr txBox="1"/>
          <p:nvPr/>
        </p:nvSpPr>
        <p:spPr>
          <a:xfrm>
            <a:off x="467544" y="6189086"/>
            <a:ext cx="75204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Bodie, </a:t>
            </a:r>
            <a:r>
              <a:rPr lang="en-US" sz="1200" dirty="0" err="1"/>
              <a:t>Zvi</a:t>
            </a:r>
            <a:r>
              <a:rPr lang="en-US" sz="1200" dirty="0"/>
              <a:t>; Kane, Alex; Marcus, Alan J. (2019). </a:t>
            </a:r>
            <a:r>
              <a:rPr lang="en-US" sz="1200" i="1" dirty="0"/>
              <a:t>Investments</a:t>
            </a:r>
            <a:r>
              <a:rPr lang="en-US" sz="1200" dirty="0"/>
              <a:t>. McGraw-Hill.</a:t>
            </a:r>
          </a:p>
          <a:p>
            <a:r>
              <a:rPr lang="en-US" sz="1200" dirty="0"/>
              <a:t>Elton, Edwin; Gruber, Martin (2010). </a:t>
            </a:r>
            <a:r>
              <a:rPr lang="en-US" sz="1200" i="1" dirty="0"/>
              <a:t>Modern Portfolio Theory and Investment Analysis</a:t>
            </a:r>
            <a:r>
              <a:rPr lang="en-US" sz="1200" dirty="0"/>
              <a:t>. Wiley</a:t>
            </a:r>
            <a:endParaRPr lang="en-CL" sz="1200" dirty="0"/>
          </a:p>
        </p:txBody>
      </p:sp>
    </p:spTree>
    <p:extLst>
      <p:ext uri="{BB962C8B-B14F-4D97-AF65-F5344CB8AC3E}">
        <p14:creationId xmlns:p14="http://schemas.microsoft.com/office/powerpoint/2010/main" val="42184006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9F905-608C-7D5E-8F59-00431533C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FFABA184-5B16-7164-DA3C-B978B2DD0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03648" y="260648"/>
            <a:ext cx="6696149" cy="1139825"/>
          </a:xfrm>
        </p:spPr>
        <p:txBody>
          <a:bodyPr/>
          <a:lstStyle/>
          <a:p>
            <a:pPr algn="ctr" defTabSz="762000" eaLnBrk="1" hangingPunct="1">
              <a:spcAft>
                <a:spcPct val="67000"/>
              </a:spcAft>
            </a:pPr>
            <a:r>
              <a:rPr lang="en-US" altLang="es-CL" sz="3000" b="1" dirty="0" err="1"/>
              <a:t>Análisis</a:t>
            </a:r>
            <a:r>
              <a:rPr lang="en-US" altLang="es-CL" sz="3000" b="1" dirty="0"/>
              <a:t> con </a:t>
            </a:r>
            <a:r>
              <a:rPr lang="en-US" altLang="es-CL" sz="3000" b="1" dirty="0" err="1"/>
              <a:t>Probabilidades</a:t>
            </a:r>
            <a:r>
              <a:rPr lang="en-US" altLang="es-CL" sz="3000" b="1" dirty="0"/>
              <a:t> de </a:t>
            </a:r>
            <a:r>
              <a:rPr lang="en-US" altLang="es-CL" sz="3000" b="1" dirty="0" err="1"/>
              <a:t>Ocurrencia</a:t>
            </a:r>
            <a:endParaRPr lang="en-US" altLang="es-CL" sz="3000" b="1" dirty="0"/>
          </a:p>
        </p:txBody>
      </p:sp>
      <p:pic>
        <p:nvPicPr>
          <p:cNvPr id="34818" name="Imagen 3">
            <a:extLst>
              <a:ext uri="{FF2B5EF4-FFF2-40B4-BE49-F238E27FC236}">
                <a16:creationId xmlns:a16="http://schemas.microsoft.com/office/drawing/2014/main" id="{CDEA7AC9-6A6C-DCB7-5B7B-5F527BA63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49213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8734D2-4F27-BBBD-622A-DCF435623BEF}"/>
              </a:ext>
            </a:extLst>
          </p:cNvPr>
          <p:cNvSpPr txBox="1"/>
          <p:nvPr/>
        </p:nvSpPr>
        <p:spPr>
          <a:xfrm>
            <a:off x="1003114" y="1844824"/>
            <a:ext cx="7137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ü"/>
            </a:pPr>
            <a:r>
              <a:rPr lang="es-CL" dirty="0"/>
              <a:t>Ejemplo 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580F6DD-40CD-781F-A642-6F15E29C4EE3}"/>
                  </a:ext>
                </a:extLst>
              </p:cNvPr>
              <p:cNvSpPr txBox="1"/>
              <p:nvPr/>
            </p:nvSpPr>
            <p:spPr>
              <a:xfrm>
                <a:off x="3636376" y="5936232"/>
                <a:ext cx="2994563" cy="404341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05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AU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05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AU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105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05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AU" sz="105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105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sSup>
                            <m:sSupPr>
                              <m:ctrlPr>
                                <a:rPr lang="en-AU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AU" sz="10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105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</m:e>
                            <m:sup>
                              <m:r>
                                <a:rPr lang="en-AU" sz="105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AU" sz="105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AU" sz="105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AU" sz="105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AU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05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AU" sz="105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AU" sz="105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05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105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AU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105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AU" sz="105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AU" sz="105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sz="105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AU" sz="10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105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  <m:r>
                                <a:rPr lang="en-AU" sz="105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105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AU" sz="105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580F6DD-40CD-781F-A642-6F15E29C4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376" y="5936232"/>
                <a:ext cx="2994563" cy="404341"/>
              </a:xfrm>
              <a:prstGeom prst="rect">
                <a:avLst/>
              </a:prstGeom>
              <a:blipFill>
                <a:blip r:embed="rId4"/>
                <a:stretch>
                  <a:fillRect t="-142424" b="-206061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A53C37-0235-EE7B-3B57-24DB5474834D}"/>
                  </a:ext>
                </a:extLst>
              </p:cNvPr>
              <p:cNvSpPr txBox="1"/>
              <p:nvPr/>
            </p:nvSpPr>
            <p:spPr>
              <a:xfrm>
                <a:off x="6739722" y="5987986"/>
                <a:ext cx="2147777" cy="353238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𝑆𝐷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A53C37-0235-EE7B-3B57-24DB54748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722" y="5987986"/>
                <a:ext cx="2147777" cy="353238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D5C121-7C19-04D2-6D4D-E134B2372840}"/>
                  </a:ext>
                </a:extLst>
              </p:cNvPr>
              <p:cNvSpPr txBox="1"/>
              <p:nvPr/>
            </p:nvSpPr>
            <p:spPr>
              <a:xfrm>
                <a:off x="256501" y="5976637"/>
                <a:ext cx="2994562" cy="43274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200" b="0" i="1" smtClean="0">
                          <a:latin typeface="Cambria Math" panose="02040503050406030204" pitchFamily="18" charset="0"/>
                        </a:rPr>
                        <m:t>𝑅𝑒𝑡𝑜𝑟𝑛𝑜</m:t>
                      </m:r>
                      <m:r>
                        <a:rPr lang="es-CL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L" sz="1200" b="0" i="1" smtClean="0">
                          <a:latin typeface="Cambria Math" panose="02040503050406030204" pitchFamily="18" charset="0"/>
                        </a:rPr>
                        <m:t>𝑒𝑠𝑝𝑒𝑟𝑎𝑑𝑜</m:t>
                      </m:r>
                      <m:r>
                        <a:rPr lang="es-CL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sz="12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L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s-CL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s-CL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s-CL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C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CL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s-CL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L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L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nary>
                    </m:oMath>
                  </m:oMathPara>
                </a14:m>
                <a:endParaRPr lang="es-CL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D5C121-7C19-04D2-6D4D-E134B2372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01" y="5976637"/>
                <a:ext cx="2994562" cy="432747"/>
              </a:xfrm>
              <a:prstGeom prst="rect">
                <a:avLst/>
              </a:prstGeom>
              <a:blipFill>
                <a:blip r:embed="rId6"/>
                <a:stretch>
                  <a:fillRect t="-138889" b="-21111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E47A9D9-0E63-E67C-0C80-5D78B7E1D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900161"/>
              </p:ext>
            </p:extLst>
          </p:nvPr>
        </p:nvGraphicFramePr>
        <p:xfrm>
          <a:off x="3150891" y="1772816"/>
          <a:ext cx="3480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024">
                  <a:extLst>
                    <a:ext uri="{9D8B030D-6E8A-4147-A177-3AD203B41FA5}">
                      <a16:colId xmlns:a16="http://schemas.microsoft.com/office/drawing/2014/main" val="3916929224"/>
                    </a:ext>
                  </a:extLst>
                </a:gridCol>
                <a:gridCol w="1740024">
                  <a:extLst>
                    <a:ext uri="{9D8B030D-6E8A-4147-A177-3AD203B41FA5}">
                      <a16:colId xmlns:a16="http://schemas.microsoft.com/office/drawing/2014/main" val="642937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L" dirty="0"/>
                        <a:t>Rentabilidad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L" dirty="0"/>
                        <a:t>Propabilidad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935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-20%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7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69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474635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FB5B275-40DC-EEFE-2CDF-76058EDEACED}"/>
              </a:ext>
            </a:extLst>
          </p:cNvPr>
          <p:cNvSpPr txBox="1"/>
          <p:nvPr/>
        </p:nvSpPr>
        <p:spPr>
          <a:xfrm>
            <a:off x="1003114" y="371964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ü"/>
            </a:pPr>
            <a:r>
              <a:rPr lang="es-CL" dirty="0"/>
              <a:t>Ejemplo 2: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85BDE2B-A356-9307-94C6-CF0E28698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135701"/>
              </p:ext>
            </p:extLst>
          </p:nvPr>
        </p:nvGraphicFramePr>
        <p:xfrm>
          <a:off x="2699792" y="4019983"/>
          <a:ext cx="4572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64478714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92111756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579254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L" dirty="0"/>
                        <a:t>Escenario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L" dirty="0"/>
                        <a:t>Rentabilidad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L" dirty="0"/>
                        <a:t>Propabilidad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853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L" dirty="0"/>
                        <a:t>Optimista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63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L" dirty="0"/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847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L" dirty="0"/>
                        <a:t>Pesimista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-5%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272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9474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8C96C-CC7F-15A1-926B-EEF9EE9B1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3703A590-907D-C745-1D82-3A99687ED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03648" y="260648"/>
            <a:ext cx="6696149" cy="1139825"/>
          </a:xfrm>
        </p:spPr>
        <p:txBody>
          <a:bodyPr/>
          <a:lstStyle/>
          <a:p>
            <a:pPr algn="ctr" defTabSz="762000" eaLnBrk="1" hangingPunct="1">
              <a:spcAft>
                <a:spcPct val="67000"/>
              </a:spcAft>
            </a:pPr>
            <a:r>
              <a:rPr lang="en-US" altLang="es-CL" sz="3000" b="1" dirty="0" err="1"/>
              <a:t>Análisis</a:t>
            </a:r>
            <a:r>
              <a:rPr lang="en-US" altLang="es-CL" sz="3000" b="1" dirty="0"/>
              <a:t> con </a:t>
            </a:r>
            <a:r>
              <a:rPr lang="en-US" altLang="es-CL" sz="3000" b="1" dirty="0" err="1"/>
              <a:t>Probabilidades</a:t>
            </a:r>
            <a:r>
              <a:rPr lang="en-US" altLang="es-CL" sz="3000" b="1" dirty="0"/>
              <a:t> de </a:t>
            </a:r>
            <a:r>
              <a:rPr lang="en-US" altLang="es-CL" sz="3000" b="1" dirty="0" err="1"/>
              <a:t>Ocurrencia</a:t>
            </a:r>
            <a:r>
              <a:rPr lang="en-US" altLang="es-CL" sz="3000" b="1" dirty="0"/>
              <a:t>: </a:t>
            </a:r>
            <a:r>
              <a:rPr lang="en-US" altLang="es-CL" sz="3000" b="1" dirty="0" err="1"/>
              <a:t>Índice</a:t>
            </a:r>
            <a:r>
              <a:rPr lang="en-US" altLang="es-CL" sz="3000" b="1" dirty="0"/>
              <a:t> de Sharpe</a:t>
            </a:r>
          </a:p>
        </p:txBody>
      </p:sp>
      <p:pic>
        <p:nvPicPr>
          <p:cNvPr id="34818" name="Imagen 3">
            <a:extLst>
              <a:ext uri="{FF2B5EF4-FFF2-40B4-BE49-F238E27FC236}">
                <a16:creationId xmlns:a16="http://schemas.microsoft.com/office/drawing/2014/main" id="{AC8046E8-D874-DCDC-E36C-1DDEF0C82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18" y="251063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1B7781-D505-51E9-7238-A5BE83757CC5}"/>
              </a:ext>
            </a:extLst>
          </p:cNvPr>
          <p:cNvSpPr txBox="1"/>
          <p:nvPr/>
        </p:nvSpPr>
        <p:spPr>
          <a:xfrm>
            <a:off x="547302" y="1621650"/>
            <a:ext cx="812915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ü"/>
            </a:pPr>
            <a:r>
              <a:rPr lang="es-CL" dirty="0"/>
              <a:t>Índice de Sharpe creado por el economista William F. Sharpe en 1966 en su estudio de “</a:t>
            </a:r>
            <a:r>
              <a:rPr lang="es-CL" i="1" dirty="0"/>
              <a:t>Mutual </a:t>
            </a:r>
            <a:r>
              <a:rPr lang="es-CL" i="1" dirty="0" err="1"/>
              <a:t>Fund</a:t>
            </a:r>
            <a:r>
              <a:rPr lang="es-CL" i="1" dirty="0"/>
              <a:t> Performance</a:t>
            </a:r>
            <a:r>
              <a:rPr lang="es-CL" dirty="0"/>
              <a:t>” donde propone esta manera sencilla de evaluar el desempeño.</a:t>
            </a:r>
          </a:p>
          <a:p>
            <a:pPr algn="just"/>
            <a:endParaRPr lang="es-CL" dirty="0"/>
          </a:p>
          <a:p>
            <a:pPr marL="285750" indent="-285750" algn="just">
              <a:buFont typeface="Wingdings" pitchFamily="2" charset="2"/>
              <a:buChar char="ü"/>
            </a:pPr>
            <a:r>
              <a:rPr lang="es-CL" dirty="0"/>
              <a:t>Nos permite comparar inversiones que tienen rentabilidades diferentes y riesgos diferentes. </a:t>
            </a:r>
          </a:p>
          <a:p>
            <a:pPr algn="just"/>
            <a:endParaRPr lang="es-CL" dirty="0"/>
          </a:p>
          <a:p>
            <a:pPr marL="285750" indent="-285750" algn="just">
              <a:buFont typeface="Wingdings" pitchFamily="2" charset="2"/>
              <a:buChar char="ü"/>
            </a:pPr>
            <a:r>
              <a:rPr lang="es-CL" dirty="0"/>
              <a:t>Premiar la rentabilidad y también la eficiencia en el uso de riesgo.</a:t>
            </a:r>
          </a:p>
          <a:p>
            <a:pPr marL="285750" indent="-285750" algn="just">
              <a:buFont typeface="Wingdings" pitchFamily="2" charset="2"/>
              <a:buChar char="ü"/>
            </a:pPr>
            <a:endParaRPr lang="es-CL" dirty="0"/>
          </a:p>
          <a:p>
            <a:pPr marL="285750" indent="-285750" algn="just">
              <a:buFont typeface="Wingdings" pitchFamily="2" charset="2"/>
              <a:buChar char="ü"/>
            </a:pPr>
            <a:r>
              <a:rPr lang="es-CL" dirty="0"/>
              <a:t>Supuesto: Considere </a:t>
            </a:r>
            <a:r>
              <a:rPr lang="es-CL" dirty="0" err="1"/>
              <a:t>rf</a:t>
            </a:r>
            <a:r>
              <a:rPr lang="es-CL" dirty="0"/>
              <a:t> 2,1%.</a:t>
            </a:r>
          </a:p>
          <a:p>
            <a:pPr marL="285750" indent="-285750" algn="just">
              <a:buFont typeface="Wingdings" pitchFamily="2" charset="2"/>
              <a:buChar char="ü"/>
            </a:pPr>
            <a:endParaRPr lang="es-CL" dirty="0"/>
          </a:p>
          <a:p>
            <a:pPr marL="285750" indent="-285750" algn="just">
              <a:buFont typeface="Wingdings" pitchFamily="2" charset="2"/>
              <a:buChar char="ü"/>
            </a:pPr>
            <a:r>
              <a:rPr lang="es-CL" dirty="0"/>
              <a:t>¿Cuánto retorno adicional obtengo por cada unidad de riesgo total que asumo?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CEAD55-28ED-A307-8579-B005E262112A}"/>
                  </a:ext>
                </a:extLst>
              </p:cNvPr>
              <p:cNvSpPr txBox="1"/>
              <p:nvPr/>
            </p:nvSpPr>
            <p:spPr>
              <a:xfrm>
                <a:off x="2555776" y="5345464"/>
                <a:ext cx="3888432" cy="63838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𝑆h𝑎𝑟𝑝𝑒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𝑆𝐷</m:t>
                          </m:r>
                        </m:den>
                      </m:f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CEAD55-28ED-A307-8579-B005E2621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5345464"/>
                <a:ext cx="3888432" cy="638380"/>
              </a:xfrm>
              <a:prstGeom prst="rect">
                <a:avLst/>
              </a:prstGeom>
              <a:blipFill>
                <a:blip r:embed="rId4"/>
                <a:stretch>
                  <a:fillRect b="-192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B6F7B02-9477-14F4-68A2-56E154970289}"/>
              </a:ext>
            </a:extLst>
          </p:cNvPr>
          <p:cNvSpPr txBox="1"/>
          <p:nvPr/>
        </p:nvSpPr>
        <p:spPr>
          <a:xfrm>
            <a:off x="547302" y="6347122"/>
            <a:ext cx="84891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Sharpe, William F. (1966). </a:t>
            </a:r>
            <a:r>
              <a:rPr lang="en-US" sz="1200" i="1" dirty="0"/>
              <a:t>Mutual Fund Performance</a:t>
            </a:r>
            <a:r>
              <a:rPr lang="en-US" sz="1200" dirty="0"/>
              <a:t>, </a:t>
            </a:r>
            <a:r>
              <a:rPr lang="en-US" sz="1200" i="1" dirty="0"/>
              <a:t>Journal of Business</a:t>
            </a:r>
            <a:r>
              <a:rPr lang="en-US" sz="1200" dirty="0"/>
              <a:t>.</a:t>
            </a:r>
            <a:endParaRPr lang="en-CL" sz="1200" dirty="0"/>
          </a:p>
        </p:txBody>
      </p:sp>
    </p:spTree>
    <p:extLst>
      <p:ext uri="{BB962C8B-B14F-4D97-AF65-F5344CB8AC3E}">
        <p14:creationId xmlns:p14="http://schemas.microsoft.com/office/powerpoint/2010/main" val="10567747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4AB4B61F-87FF-C9A6-0361-EF00B19077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36117" y="404664"/>
            <a:ext cx="6204235" cy="1039963"/>
          </a:xfrm>
        </p:spPr>
        <p:txBody>
          <a:bodyPr/>
          <a:lstStyle/>
          <a:p>
            <a:pPr algn="ctr" defTabSz="762000" eaLnBrk="1" hangingPunct="1">
              <a:spcAft>
                <a:spcPct val="67000"/>
              </a:spcAft>
            </a:pPr>
            <a:r>
              <a:rPr lang="en-US" altLang="es-CL" sz="3600" b="1" dirty="0" err="1"/>
              <a:t>Retorno</a:t>
            </a:r>
            <a:r>
              <a:rPr lang="en-US" altLang="es-CL" sz="3600" b="1" dirty="0"/>
              <a:t> </a:t>
            </a:r>
            <a:r>
              <a:rPr lang="en-US" altLang="es-CL" sz="3600" b="1" dirty="0" err="1"/>
              <a:t>Esperado</a:t>
            </a:r>
            <a:r>
              <a:rPr lang="en-US" altLang="es-CL" sz="3600" b="1" dirty="0"/>
              <a:t> con Datos </a:t>
            </a:r>
            <a:r>
              <a:rPr lang="en-US" altLang="es-CL" sz="3600" b="1" dirty="0" err="1"/>
              <a:t>Históricos</a:t>
            </a:r>
            <a:endParaRPr lang="en-US" altLang="es-CL" sz="3600" b="1" dirty="0"/>
          </a:p>
        </p:txBody>
      </p:sp>
      <p:pic>
        <p:nvPicPr>
          <p:cNvPr id="36866" name="Imagen 3">
            <a:extLst>
              <a:ext uri="{FF2B5EF4-FFF2-40B4-BE49-F238E27FC236}">
                <a16:creationId xmlns:a16="http://schemas.microsoft.com/office/drawing/2014/main" id="{684094A7-90A2-7CBA-FE04-3DB9B1143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03219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CuadroTexto 4">
            <a:extLst>
              <a:ext uri="{FF2B5EF4-FFF2-40B4-BE49-F238E27FC236}">
                <a16:creationId xmlns:a16="http://schemas.microsoft.com/office/drawing/2014/main" id="{134F5928-A75E-D5EA-6D02-D2F77BA0C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520669"/>
            <a:ext cx="828092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 typeface="Wingdings" pitchFamily="2" charset="2"/>
              <a:buChar char="q"/>
            </a:pPr>
            <a:endParaRPr lang="es-CL" altLang="es-CL" sz="1600" b="1" dirty="0">
              <a:solidFill>
                <a:schemeClr val="bg2"/>
              </a:solidFill>
              <a:latin typeface="Verdana" panose="020B060403050404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 typeface="Wingdings" pitchFamily="2" charset="2"/>
              <a:buChar char="q"/>
            </a:pPr>
            <a:r>
              <a:rPr lang="es-CL" altLang="es-CL" sz="1600" b="1" dirty="0">
                <a:solidFill>
                  <a:schemeClr val="bg2"/>
                </a:solidFill>
                <a:latin typeface="Verdana" panose="020B0604030504040204" pitchFamily="34" charset="0"/>
              </a:rPr>
              <a:t>¿cómo podemos estimar las probabilidades y construir expectativas que aún no ocurren?</a:t>
            </a:r>
          </a:p>
          <a:p>
            <a:pPr algn="just">
              <a:spcBef>
                <a:spcPct val="0"/>
              </a:spcBef>
              <a:buClrTx/>
              <a:buSzTx/>
              <a:buFont typeface="Wingdings" pitchFamily="2" charset="2"/>
              <a:buChar char="q"/>
            </a:pPr>
            <a:r>
              <a:rPr lang="es-CL" altLang="es-CL" sz="1600" b="1" dirty="0">
                <a:solidFill>
                  <a:schemeClr val="bg2"/>
                </a:solidFill>
                <a:latin typeface="Verdana" panose="020B0604030504040204" pitchFamily="34" charset="0"/>
              </a:rPr>
              <a:t>Retorno esperado basándose en los rendimientos pasados. Los retornos históricos nos sirven como herramienta para estimar.</a:t>
            </a:r>
          </a:p>
          <a:p>
            <a:pPr algn="just">
              <a:spcBef>
                <a:spcPct val="0"/>
              </a:spcBef>
              <a:buClrTx/>
              <a:buSzTx/>
              <a:buFont typeface="Wingdings" pitchFamily="2" charset="2"/>
              <a:buChar char="q"/>
            </a:pPr>
            <a:r>
              <a:rPr lang="es-CL" altLang="es-CL" sz="1600" b="1" dirty="0">
                <a:solidFill>
                  <a:schemeClr val="bg2"/>
                </a:solidFill>
                <a:latin typeface="Verdana" panose="020B0604030504040204" pitchFamily="34" charset="0"/>
              </a:rPr>
              <a:t>Mide el comportamiento del activo financiero y esto sería una representación de lo que podría ocurrir en el futuro.</a:t>
            </a:r>
          </a:p>
          <a:p>
            <a:pPr algn="just">
              <a:spcBef>
                <a:spcPct val="0"/>
              </a:spcBef>
              <a:buClrTx/>
              <a:buSzTx/>
              <a:buFont typeface="Wingdings" pitchFamily="2" charset="2"/>
              <a:buChar char="q"/>
            </a:pPr>
            <a:endParaRPr lang="es-CL" altLang="es-CL" sz="1600" b="1" dirty="0">
              <a:solidFill>
                <a:schemeClr val="bg2"/>
              </a:solidFill>
              <a:latin typeface="Verdana" panose="020B0604030504040204" pitchFamily="34" charset="0"/>
            </a:endParaRPr>
          </a:p>
          <a:p>
            <a:pPr algn="just">
              <a:spcBef>
                <a:spcPct val="0"/>
              </a:spcBef>
              <a:buClrTx/>
              <a:buSzTx/>
              <a:buFont typeface="Wingdings" pitchFamily="2" charset="2"/>
              <a:buChar char="q"/>
            </a:pPr>
            <a:r>
              <a:rPr lang="es-CL" altLang="es-CL" sz="1600" b="1" dirty="0">
                <a:solidFill>
                  <a:schemeClr val="bg2"/>
                </a:solidFill>
                <a:latin typeface="Verdana" panose="020B0604030504040204" pitchFamily="34" charset="0"/>
              </a:rPr>
              <a:t>Recordando: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870937DC-4555-AF69-6960-4F4538650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581144"/>
              </p:ext>
            </p:extLst>
          </p:nvPr>
        </p:nvGraphicFramePr>
        <p:xfrm>
          <a:off x="4067944" y="3773955"/>
          <a:ext cx="3969522" cy="18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792">
                <a:tc>
                  <a:txBody>
                    <a:bodyPr/>
                    <a:lstStyle/>
                    <a:p>
                      <a:r>
                        <a:rPr lang="es-CL" sz="1800" dirty="0"/>
                        <a:t>Fecha</a:t>
                      </a:r>
                    </a:p>
                  </a:txBody>
                  <a:tcPr marL="91443" marR="91443" marT="45740" marB="45740"/>
                </a:tc>
                <a:tc>
                  <a:txBody>
                    <a:bodyPr/>
                    <a:lstStyle/>
                    <a:p>
                      <a:r>
                        <a:rPr lang="es-CL" sz="1800" dirty="0"/>
                        <a:t>Precio</a:t>
                      </a:r>
                    </a:p>
                  </a:txBody>
                  <a:tcPr marL="91443" marR="91443" marT="45740" marB="45740"/>
                </a:tc>
                <a:tc>
                  <a:txBody>
                    <a:bodyPr/>
                    <a:lstStyle/>
                    <a:p>
                      <a:r>
                        <a:rPr lang="es-CL" sz="1800" dirty="0"/>
                        <a:t>Dividendo</a:t>
                      </a:r>
                    </a:p>
                  </a:txBody>
                  <a:tcPr marL="91443" marR="91443" marT="45740" marB="4574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92">
                <a:tc>
                  <a:txBody>
                    <a:bodyPr/>
                    <a:lstStyle/>
                    <a:p>
                      <a:r>
                        <a:rPr lang="es-CL" sz="1800" dirty="0"/>
                        <a:t>31/12/2022</a:t>
                      </a:r>
                    </a:p>
                  </a:txBody>
                  <a:tcPr marL="91443" marR="91443" marT="45740" marB="45740"/>
                </a:tc>
                <a:tc>
                  <a:txBody>
                    <a:bodyPr/>
                    <a:lstStyle/>
                    <a:p>
                      <a:r>
                        <a:rPr lang="es-CL" sz="1800" dirty="0"/>
                        <a:t>$2,79</a:t>
                      </a:r>
                    </a:p>
                  </a:txBody>
                  <a:tcPr marL="91443" marR="91443" marT="45740" marB="45740"/>
                </a:tc>
                <a:tc>
                  <a:txBody>
                    <a:bodyPr/>
                    <a:lstStyle/>
                    <a:p>
                      <a:r>
                        <a:rPr lang="es-CL" sz="1800" dirty="0"/>
                        <a:t>-</a:t>
                      </a:r>
                    </a:p>
                  </a:txBody>
                  <a:tcPr marL="91443" marR="91443" marT="45740" marB="4574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92">
                <a:tc>
                  <a:txBody>
                    <a:bodyPr/>
                    <a:lstStyle/>
                    <a:p>
                      <a:r>
                        <a:rPr lang="es-CL" sz="1800" dirty="0"/>
                        <a:t>21/02/2023</a:t>
                      </a:r>
                    </a:p>
                  </a:txBody>
                  <a:tcPr marL="91443" marR="91443" marT="45740" marB="45740"/>
                </a:tc>
                <a:tc>
                  <a:txBody>
                    <a:bodyPr/>
                    <a:lstStyle/>
                    <a:p>
                      <a:r>
                        <a:rPr lang="es-CL" sz="1800" dirty="0"/>
                        <a:t>$2,8</a:t>
                      </a:r>
                    </a:p>
                  </a:txBody>
                  <a:tcPr marL="91443" marR="91443" marT="45740" marB="45740"/>
                </a:tc>
                <a:tc>
                  <a:txBody>
                    <a:bodyPr/>
                    <a:lstStyle/>
                    <a:p>
                      <a:r>
                        <a:rPr lang="es-CL" sz="1800" dirty="0"/>
                        <a:t>$0,14</a:t>
                      </a:r>
                    </a:p>
                  </a:txBody>
                  <a:tcPr marL="91443" marR="91443" marT="45740" marB="4574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92">
                <a:tc>
                  <a:txBody>
                    <a:bodyPr/>
                    <a:lstStyle/>
                    <a:p>
                      <a:r>
                        <a:rPr lang="es-CL" sz="1800" dirty="0"/>
                        <a:t>22/08/2023</a:t>
                      </a:r>
                    </a:p>
                  </a:txBody>
                  <a:tcPr marL="91443" marR="91443" marT="45740" marB="45740"/>
                </a:tc>
                <a:tc>
                  <a:txBody>
                    <a:bodyPr/>
                    <a:lstStyle/>
                    <a:p>
                      <a:r>
                        <a:rPr lang="es-CL" sz="1800" dirty="0"/>
                        <a:t>$2,97</a:t>
                      </a:r>
                    </a:p>
                  </a:txBody>
                  <a:tcPr marL="91443" marR="91443" marT="45740" marB="45740"/>
                </a:tc>
                <a:tc>
                  <a:txBody>
                    <a:bodyPr/>
                    <a:lstStyle/>
                    <a:p>
                      <a:r>
                        <a:rPr lang="es-CL" sz="1800" dirty="0"/>
                        <a:t>$0,14</a:t>
                      </a:r>
                    </a:p>
                  </a:txBody>
                  <a:tcPr marL="91443" marR="91443" marT="45740" marB="4574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792">
                <a:tc>
                  <a:txBody>
                    <a:bodyPr/>
                    <a:lstStyle/>
                    <a:p>
                      <a:r>
                        <a:rPr lang="es-CL" sz="1800" dirty="0"/>
                        <a:t>30/12/2023</a:t>
                      </a:r>
                    </a:p>
                  </a:txBody>
                  <a:tcPr marL="91443" marR="91443" marT="45740" marB="45740"/>
                </a:tc>
                <a:tc>
                  <a:txBody>
                    <a:bodyPr/>
                    <a:lstStyle/>
                    <a:p>
                      <a:r>
                        <a:rPr lang="es-CL" sz="1800" dirty="0"/>
                        <a:t>$3,33</a:t>
                      </a:r>
                    </a:p>
                  </a:txBody>
                  <a:tcPr marL="91443" marR="91443" marT="45740" marB="45740"/>
                </a:tc>
                <a:tc>
                  <a:txBody>
                    <a:bodyPr/>
                    <a:lstStyle/>
                    <a:p>
                      <a:endParaRPr lang="es-CL" sz="1800" dirty="0"/>
                    </a:p>
                  </a:txBody>
                  <a:tcPr marL="91443" marR="91443" marT="45740" marB="45740"/>
                </a:tc>
                <a:extLst>
                  <a:ext uri="{0D108BD9-81ED-4DB2-BD59-A6C34878D82A}">
                    <a16:rowId xmlns:a16="http://schemas.microsoft.com/office/drawing/2014/main" val="8264491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26EB6D-AFF3-C0B1-DD96-BBF189ABEBEA}"/>
                  </a:ext>
                </a:extLst>
              </p:cNvPr>
              <p:cNvSpPr txBox="1"/>
              <p:nvPr/>
            </p:nvSpPr>
            <p:spPr>
              <a:xfrm>
                <a:off x="673418" y="5084727"/>
                <a:ext cx="2098382" cy="56772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err="1"/>
                  <a:t>R</a:t>
                </a:r>
                <a:r>
                  <a:rPr lang="en-AU" sz="2000" baseline="-25000" dirty="0" err="1"/>
                  <a:t>sin</a:t>
                </a:r>
                <a:r>
                  <a:rPr lang="en-AU" sz="2000" baseline="-25000" dirty="0"/>
                  <a:t> div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26EB6D-AFF3-C0B1-DD96-BBF189ABE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18" y="5084727"/>
                <a:ext cx="2098382" cy="567720"/>
              </a:xfrm>
              <a:prstGeom prst="rect">
                <a:avLst/>
              </a:prstGeom>
              <a:blipFill>
                <a:blip r:embed="rId4"/>
                <a:stretch>
                  <a:fillRect l="-239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93D2FB6-4F71-0337-CD73-0B4B3B939297}"/>
                  </a:ext>
                </a:extLst>
              </p:cNvPr>
              <p:cNvSpPr txBox="1"/>
              <p:nvPr/>
            </p:nvSpPr>
            <p:spPr>
              <a:xfrm>
                <a:off x="654618" y="4120735"/>
                <a:ext cx="2376264" cy="56772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err="1"/>
                  <a:t>R</a:t>
                </a:r>
                <a:r>
                  <a:rPr lang="en-AU" sz="2000" baseline="-25000" dirty="0" err="1"/>
                  <a:t>con</a:t>
                </a:r>
                <a:r>
                  <a:rPr lang="en-AU" sz="2000" baseline="-25000" dirty="0"/>
                  <a:t> div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93D2FB6-4F71-0337-CD73-0B4B3B939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18" y="4120735"/>
                <a:ext cx="2376264" cy="567720"/>
              </a:xfrm>
              <a:prstGeom prst="rect">
                <a:avLst/>
              </a:prstGeom>
              <a:blipFill>
                <a:blip r:embed="rId5"/>
                <a:stretch>
                  <a:fillRect l="-210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58DEC5-E352-21DE-8753-14963637FC88}"/>
                  </a:ext>
                </a:extLst>
              </p:cNvPr>
              <p:cNvSpPr txBox="1"/>
              <p:nvPr/>
            </p:nvSpPr>
            <p:spPr>
              <a:xfrm>
                <a:off x="673418" y="5877272"/>
                <a:ext cx="4824536" cy="40011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(1+R</a:t>
                </a:r>
                <a:r>
                  <a:rPr lang="en-AU" sz="2000" baseline="-25000" dirty="0"/>
                  <a:t>anual</a:t>
                </a:r>
                <a14:m>
                  <m:oMath xmlns:m="http://schemas.openxmlformats.org/officeDocument/2006/math">
                    <m:r>
                      <a:rPr lang="es-ES" sz="2000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..(1+</m:t>
                    </m:r>
                    <m:sSub>
                      <m:sSub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58DEC5-E352-21DE-8753-14963637F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18" y="5877272"/>
                <a:ext cx="4824536" cy="400110"/>
              </a:xfrm>
              <a:prstGeom prst="rect">
                <a:avLst/>
              </a:prstGeom>
              <a:blipFill>
                <a:blip r:embed="rId6"/>
                <a:stretch>
                  <a:fillRect l="-1047" t="-6061" b="-2424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Imagen 3">
            <a:extLst>
              <a:ext uri="{FF2B5EF4-FFF2-40B4-BE49-F238E27FC236}">
                <a16:creationId xmlns:a16="http://schemas.microsoft.com/office/drawing/2014/main" id="{3A4D4280-D523-8D91-9F6B-7AD1F3225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03" y="404664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7445323-5084-A2F5-25AF-C109D08694C8}"/>
              </a:ext>
            </a:extLst>
          </p:cNvPr>
          <p:cNvSpPr txBox="1"/>
          <p:nvPr/>
        </p:nvSpPr>
        <p:spPr>
          <a:xfrm>
            <a:off x="468313" y="1628775"/>
            <a:ext cx="8159750" cy="526297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r>
              <a:rPr lang="es-CL" sz="1600" b="1" dirty="0">
                <a:solidFill>
                  <a:schemeClr val="bg2"/>
                </a:solidFill>
              </a:rPr>
              <a:t>Rendimiento anual promedio: El rendimiento anual promedio de una inversión durante cierto periodo histórico.</a:t>
            </a: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r>
              <a:rPr lang="es-CL" sz="1600" b="1" dirty="0">
                <a:solidFill>
                  <a:schemeClr val="bg2"/>
                </a:solidFill>
              </a:rPr>
              <a:t>El rendimiento promedio (media aritmética) para el periodo de 1 a T estará dado por</a:t>
            </a: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r>
              <a:rPr lang="es-CL" sz="1600" b="1" dirty="0">
                <a:solidFill>
                  <a:schemeClr val="bg2"/>
                </a:solidFill>
              </a:rPr>
              <a:t>Mide el retorno promedio que ocurrió en los distintos años tratados de manera independiente. No considera el efecto compuesto.</a:t>
            </a:r>
          </a:p>
          <a:p>
            <a:pPr algn="just"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r>
              <a:rPr lang="es-CL" sz="1600" b="1" dirty="0">
                <a:solidFill>
                  <a:schemeClr val="bg2"/>
                </a:solidFill>
              </a:rPr>
              <a:t>Si la distribución de probabilidad de los rendimientos es la misma en el tiempo, el rendimiento promedio podría ser una estimación del rendimiento esperado.</a:t>
            </a:r>
          </a:p>
          <a:p>
            <a:pPr algn="just"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algn="just"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FE6E7A4-47DD-F48E-8DA8-1E36509BA21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483768" y="3205573"/>
            <a:ext cx="3039678" cy="391133"/>
          </a:xfrm>
          <a:prstGeom prst="rect">
            <a:avLst/>
          </a:prstGeom>
          <a:blipFill>
            <a:blip r:embed="rId4"/>
            <a:stretch>
              <a:fillRect l="-2605" t="-7813" r="-2806" b="-18750"/>
            </a:stretch>
          </a:blipFill>
        </p:spPr>
        <p:txBody>
          <a:bodyPr/>
          <a:lstStyle/>
          <a:p>
            <a:pPr>
              <a:defRPr/>
            </a:pPr>
            <a:r>
              <a:rPr lang="es-CL">
                <a:noFill/>
              </a:rPr>
              <a:t> 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1E4500EE-0579-19D5-B472-D86FCCB7B8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2025" y="764704"/>
            <a:ext cx="7848872" cy="712788"/>
          </a:xfrm>
        </p:spPr>
        <p:txBody>
          <a:bodyPr/>
          <a:lstStyle/>
          <a:p>
            <a:pPr algn="ctr" defTabSz="762000" eaLnBrk="1" hangingPunct="1">
              <a:spcAft>
                <a:spcPct val="67000"/>
              </a:spcAft>
            </a:pPr>
            <a:r>
              <a:rPr lang="en-US" altLang="es-CL" sz="3600" b="1" dirty="0" err="1"/>
              <a:t>Retorno</a:t>
            </a:r>
            <a:r>
              <a:rPr lang="en-US" altLang="es-CL" sz="3600" b="1" dirty="0"/>
              <a:t> </a:t>
            </a:r>
            <a:r>
              <a:rPr lang="en-US" altLang="es-CL" sz="3600" b="1" dirty="0" err="1"/>
              <a:t>Esperado</a:t>
            </a:r>
            <a:r>
              <a:rPr lang="en-US" altLang="es-CL" sz="3600" b="1" dirty="0"/>
              <a:t> con Datos </a:t>
            </a:r>
            <a:r>
              <a:rPr lang="en-US" altLang="es-CL" sz="3600" b="1" dirty="0" err="1"/>
              <a:t>Históricos</a:t>
            </a:r>
            <a:r>
              <a:rPr lang="en-US" altLang="es-CL" sz="3600" b="1" dirty="0"/>
              <a:t>: Media </a:t>
            </a:r>
            <a:r>
              <a:rPr lang="en-US" altLang="es-CL" sz="3600" b="1" dirty="0" err="1"/>
              <a:t>aritmética</a:t>
            </a:r>
            <a:endParaRPr lang="en-US" altLang="es-CL" sz="36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647A2-9B35-3C8A-A489-68860040F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Imagen 3">
            <a:extLst>
              <a:ext uri="{FF2B5EF4-FFF2-40B4-BE49-F238E27FC236}">
                <a16:creationId xmlns:a16="http://schemas.microsoft.com/office/drawing/2014/main" id="{115539B0-4AC7-4F63-95D1-6452750C3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03" y="404664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5082265-5F12-19C9-0C17-23AC30F8495C}"/>
              </a:ext>
            </a:extLst>
          </p:cNvPr>
          <p:cNvSpPr txBox="1"/>
          <p:nvPr/>
        </p:nvSpPr>
        <p:spPr>
          <a:xfrm>
            <a:off x="693465" y="1526578"/>
            <a:ext cx="791307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r>
              <a:rPr lang="es-CL" sz="1600" b="1" dirty="0">
                <a:solidFill>
                  <a:schemeClr val="bg2"/>
                </a:solidFill>
              </a:rPr>
              <a:t>Rendimiento que refleja el efecto compuesto a lo largo del tiempo.</a:t>
            </a:r>
          </a:p>
          <a:p>
            <a:pPr algn="just"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r>
              <a:rPr lang="es-CL" sz="1600" b="1" dirty="0">
                <a:solidFill>
                  <a:schemeClr val="bg2"/>
                </a:solidFill>
              </a:rPr>
              <a:t>El rendimiento para el periodo de 1 a T estará dado por</a:t>
            </a: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algn="just"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algn="just"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r>
              <a:rPr lang="es-CL" sz="1600" b="1" dirty="0">
                <a:solidFill>
                  <a:schemeClr val="bg2"/>
                </a:solidFill>
              </a:rPr>
              <a:t>Mide el retorno acumulado a lo largo de los años analizados.</a:t>
            </a: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r>
              <a:rPr lang="es-CL" sz="1600" b="1" dirty="0">
                <a:solidFill>
                  <a:schemeClr val="bg2"/>
                </a:solidFill>
              </a:rPr>
              <a:t>Siempre es menor o igual a la aritmética si hay variabilidad.</a:t>
            </a: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B50D5AE-FE2B-7D29-BEDE-9DF1F6AC30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2025" y="764704"/>
            <a:ext cx="7848872" cy="712788"/>
          </a:xfrm>
        </p:spPr>
        <p:txBody>
          <a:bodyPr/>
          <a:lstStyle/>
          <a:p>
            <a:pPr algn="ctr" defTabSz="762000" eaLnBrk="1" hangingPunct="1">
              <a:spcAft>
                <a:spcPct val="67000"/>
              </a:spcAft>
            </a:pPr>
            <a:r>
              <a:rPr lang="en-US" altLang="es-CL" sz="3600" b="1" dirty="0" err="1"/>
              <a:t>Retorno</a:t>
            </a:r>
            <a:r>
              <a:rPr lang="en-US" altLang="es-CL" sz="3600" b="1" dirty="0"/>
              <a:t> </a:t>
            </a:r>
            <a:r>
              <a:rPr lang="en-US" altLang="es-CL" sz="3600" b="1" dirty="0" err="1"/>
              <a:t>Esperado</a:t>
            </a:r>
            <a:r>
              <a:rPr lang="en-US" altLang="es-CL" sz="3600" b="1" dirty="0"/>
              <a:t> con Datos </a:t>
            </a:r>
            <a:r>
              <a:rPr lang="en-US" altLang="es-CL" sz="3600" b="1" dirty="0" err="1"/>
              <a:t>Históricos</a:t>
            </a:r>
            <a:r>
              <a:rPr lang="en-US" altLang="es-CL" sz="3600" b="1" dirty="0"/>
              <a:t>: Media </a:t>
            </a:r>
            <a:r>
              <a:rPr lang="en-US" altLang="es-CL" sz="3600" b="1" dirty="0" err="1"/>
              <a:t>Geométrica</a:t>
            </a:r>
            <a:endParaRPr lang="en-US" altLang="es-CL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57CF510-87A5-199B-44A4-3EB0C73FF5C4}"/>
                  </a:ext>
                </a:extLst>
              </p:cNvPr>
              <p:cNvSpPr txBox="1"/>
              <p:nvPr/>
            </p:nvSpPr>
            <p:spPr>
              <a:xfrm>
                <a:off x="962025" y="2636912"/>
                <a:ext cx="6615161" cy="46506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𝑅𝑔𝑒𝑜𝑚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𝑡𝑟𝑖𝑐𝑎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g>
                        <m:e>
                          <m:d>
                            <m:d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..(1+</m:t>
                          </m:r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ra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57CF510-87A5-199B-44A4-3EB0C73FF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25" y="2636912"/>
                <a:ext cx="6615161" cy="465064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28DDB6-08B6-EBA6-992D-D53DF434E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313628"/>
              </p:ext>
            </p:extLst>
          </p:nvPr>
        </p:nvGraphicFramePr>
        <p:xfrm>
          <a:off x="1655676" y="4437112"/>
          <a:ext cx="583264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873">
                  <a:extLst>
                    <a:ext uri="{9D8B030D-6E8A-4147-A177-3AD203B41FA5}">
                      <a16:colId xmlns:a16="http://schemas.microsoft.com/office/drawing/2014/main" val="2699692012"/>
                    </a:ext>
                  </a:extLst>
                </a:gridCol>
                <a:gridCol w="1456925">
                  <a:extLst>
                    <a:ext uri="{9D8B030D-6E8A-4147-A177-3AD203B41FA5}">
                      <a16:colId xmlns:a16="http://schemas.microsoft.com/office/drawing/2014/main" val="3761875371"/>
                    </a:ext>
                  </a:extLst>
                </a:gridCol>
                <a:gridCol w="1456925">
                  <a:extLst>
                    <a:ext uri="{9D8B030D-6E8A-4147-A177-3AD203B41FA5}">
                      <a16:colId xmlns:a16="http://schemas.microsoft.com/office/drawing/2014/main" val="2077424588"/>
                    </a:ext>
                  </a:extLst>
                </a:gridCol>
                <a:gridCol w="1456925">
                  <a:extLst>
                    <a:ext uri="{9D8B030D-6E8A-4147-A177-3AD203B41FA5}">
                      <a16:colId xmlns:a16="http://schemas.microsoft.com/office/drawing/2014/main" val="2825036516"/>
                    </a:ext>
                  </a:extLst>
                </a:gridCol>
              </a:tblGrid>
              <a:tr h="268147"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Año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R S&amp;P500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R 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R bonos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741505"/>
                  </a:ext>
                </a:extLst>
              </a:tr>
              <a:tr h="268147"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8,6%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5,1%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180096"/>
                  </a:ext>
                </a:extLst>
              </a:tr>
              <a:tr h="268147"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33,4%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19,6%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5,2%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635929"/>
                  </a:ext>
                </a:extLst>
              </a:tr>
              <a:tr h="268147"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28,6%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21,3%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4,9%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037981"/>
                  </a:ext>
                </a:extLst>
              </a:tr>
              <a:tr h="268147"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25,1%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4,8%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095163"/>
                  </a:ext>
                </a:extLst>
              </a:tr>
              <a:tr h="268147"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-9,1%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-27,8%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L" dirty="0"/>
                        <a:t>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806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4577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Imagen 3">
            <a:extLst>
              <a:ext uri="{FF2B5EF4-FFF2-40B4-BE49-F238E27FC236}">
                <a16:creationId xmlns:a16="http://schemas.microsoft.com/office/drawing/2014/main" id="{925B875C-2F79-61D7-1E3E-B58F94C6E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60330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6FC49AC-0258-FBE9-44E4-240923DA21B3}"/>
              </a:ext>
            </a:extLst>
          </p:cNvPr>
          <p:cNvSpPr txBox="1"/>
          <p:nvPr/>
        </p:nvSpPr>
        <p:spPr>
          <a:xfrm>
            <a:off x="298450" y="1484313"/>
            <a:ext cx="8497888" cy="64690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r>
              <a:rPr lang="es-CL" sz="1600" b="1" dirty="0">
                <a:solidFill>
                  <a:schemeClr val="bg2"/>
                </a:solidFill>
              </a:rPr>
              <a:t>La variabilidad de los rendimientos es muy diferente para cada inversión.</a:t>
            </a: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r>
              <a:rPr lang="es-CL" sz="1600" b="1" dirty="0">
                <a:solidFill>
                  <a:schemeClr val="bg2"/>
                </a:solidFill>
              </a:rPr>
              <a:t>La distribución de los rendimientos de las acciones más pequeñas muestra más dispersión.</a:t>
            </a: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r>
              <a:rPr lang="es-CL" sz="1600" b="1" dirty="0">
                <a:solidFill>
                  <a:schemeClr val="bg2"/>
                </a:solidFill>
              </a:rPr>
              <a:t>Las acciones grandes tienen rendimientos que varían menos. Sin embargo, más que los bonos corporativos.</a:t>
            </a: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r>
              <a:rPr lang="es-CL" sz="1600" b="1" dirty="0">
                <a:solidFill>
                  <a:schemeClr val="bg2"/>
                </a:solidFill>
              </a:rPr>
              <a:t>Para calcular la diferencia de variabilidad, se estima la desviación estándar de la distribución de probabilidad.</a:t>
            </a: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r>
              <a:rPr lang="es-CL" sz="1600" b="1" dirty="0">
                <a:solidFill>
                  <a:schemeClr val="bg2"/>
                </a:solidFill>
              </a:rPr>
              <a:t>La varianza se determina calculando el promedio de la desviación al cuadrado con respecto al promedio.</a:t>
            </a: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r>
              <a:rPr lang="es-CL" sz="1600" b="1" dirty="0">
                <a:solidFill>
                  <a:schemeClr val="bg2"/>
                </a:solidFill>
              </a:rPr>
              <a:t>Desviación estándar es la raíz cuadrada de la varianza</a:t>
            </a: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algn="just"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endParaRPr lang="es-CL" sz="1600" b="1" dirty="0">
              <a:solidFill>
                <a:schemeClr val="bg2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BB8CA63-A53A-1BF4-3315-472439419AE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61455" y="5612930"/>
            <a:ext cx="3064685" cy="77886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chemeClr val="accent1">
                <a:lumMod val="50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es-CL">
                <a:noFill/>
              </a:rPr>
              <a:t> 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AAD69D9-1DD3-4FE1-228D-D83E864A6FA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20072" y="5733256"/>
            <a:ext cx="1923155" cy="335413"/>
          </a:xfrm>
          <a:prstGeom prst="rect">
            <a:avLst/>
          </a:prstGeom>
          <a:blipFill>
            <a:blip r:embed="rId5"/>
            <a:stretch>
              <a:fillRect l="-1258" r="-2830" b="-20690"/>
            </a:stretch>
          </a:blipFill>
          <a:ln>
            <a:solidFill>
              <a:schemeClr val="accent1">
                <a:lumMod val="50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es-CL">
                <a:noFill/>
              </a:rPr>
              <a:t> </a:t>
            </a:r>
          </a:p>
        </p:txBody>
      </p:sp>
      <p:sp>
        <p:nvSpPr>
          <p:cNvPr id="46088" name="CuadroTexto 5">
            <a:extLst>
              <a:ext uri="{FF2B5EF4-FFF2-40B4-BE49-F238E27FC236}">
                <a16:creationId xmlns:a16="http://schemas.microsoft.com/office/drawing/2014/main" id="{1F1B243F-45AF-AE51-D791-3C00021BF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6284913"/>
            <a:ext cx="1677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CL" altLang="es-CL" sz="1800" dirty="0">
                <a:latin typeface="Verdana" panose="020B0604030504040204" pitchFamily="34" charset="0"/>
              </a:rPr>
              <a:t>Ver ejercicio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A2342D94-AFB5-B8F9-59D7-F2D6C51FFF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7704" y="496854"/>
            <a:ext cx="6419056" cy="712788"/>
          </a:xfrm>
        </p:spPr>
        <p:txBody>
          <a:bodyPr/>
          <a:lstStyle/>
          <a:p>
            <a:pPr defTabSz="762000" eaLnBrk="1" hangingPunct="1">
              <a:spcAft>
                <a:spcPct val="67000"/>
              </a:spcAft>
            </a:pPr>
            <a:r>
              <a:rPr lang="en-US" altLang="es-CL" sz="3600" b="1" dirty="0" err="1"/>
              <a:t>Riesgo</a:t>
            </a:r>
            <a:r>
              <a:rPr lang="en-US" altLang="es-CL" sz="3600" b="1" dirty="0"/>
              <a:t> con </a:t>
            </a:r>
            <a:r>
              <a:rPr lang="en-US" altLang="es-CL" sz="3600" b="1" dirty="0" err="1"/>
              <a:t>Datos</a:t>
            </a:r>
            <a:r>
              <a:rPr lang="en-US" altLang="es-CL" sz="3600" b="1" dirty="0"/>
              <a:t> </a:t>
            </a:r>
            <a:r>
              <a:rPr lang="en-US" altLang="es-CL" sz="3600" b="1" dirty="0" err="1"/>
              <a:t>Históricos</a:t>
            </a:r>
            <a:endParaRPr lang="en-US" altLang="es-CL" sz="36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1AF7A-3F7E-C2B8-BE54-1132BB68C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Imagen 3">
            <a:extLst>
              <a:ext uri="{FF2B5EF4-FFF2-40B4-BE49-F238E27FC236}">
                <a16:creationId xmlns:a16="http://schemas.microsoft.com/office/drawing/2014/main" id="{903E3561-E53D-7402-3C1D-B7FB91BE6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60330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494DF9-E008-DD3E-EBE6-AE548633987A}"/>
              </a:ext>
            </a:extLst>
          </p:cNvPr>
          <p:cNvSpPr txBox="1"/>
          <p:nvPr/>
        </p:nvSpPr>
        <p:spPr>
          <a:xfrm>
            <a:off x="107504" y="1808675"/>
            <a:ext cx="856895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r>
              <a:rPr lang="es-CL" sz="1800" b="1" dirty="0">
                <a:solidFill>
                  <a:schemeClr val="bg2"/>
                </a:solidFill>
              </a:rPr>
              <a:t>El error de la estimación nace debido a que no conocemos la rentabilidad o volatilidad real de un activo, solo tenemos muestra de datos.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endParaRPr lang="es-CL" b="1" dirty="0">
              <a:solidFill>
                <a:schemeClr val="bg2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r>
              <a:rPr lang="es-CL" sz="1800" b="1" dirty="0">
                <a:solidFill>
                  <a:schemeClr val="bg2"/>
                </a:solidFill>
              </a:rPr>
              <a:t>Nosotros calculamos un media y desviación estándar a partir de una muestra no del valor exacto poblacional.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endParaRPr lang="es-CL" b="1" dirty="0">
              <a:solidFill>
                <a:schemeClr val="bg2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r>
              <a:rPr lang="es-CL" sz="1800" b="1" dirty="0">
                <a:solidFill>
                  <a:schemeClr val="bg2"/>
                </a:solidFill>
              </a:rPr>
              <a:t>Por lo tanto, el error mide que tanto podría desviarse nuestro estimador (como la rentabilidad promedio) del valor verdadero en la poblaci</a:t>
            </a:r>
            <a:r>
              <a:rPr lang="es-CL" b="1" dirty="0">
                <a:solidFill>
                  <a:schemeClr val="bg2"/>
                </a:solidFill>
              </a:rPr>
              <a:t>ón de datos.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endParaRPr lang="es-CL" sz="1800" b="1" dirty="0">
              <a:solidFill>
                <a:schemeClr val="bg2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endParaRPr lang="es-CL" sz="1800" b="1" dirty="0">
              <a:solidFill>
                <a:schemeClr val="bg2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endParaRPr lang="es-CL" b="1" dirty="0">
              <a:solidFill>
                <a:schemeClr val="bg2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endParaRPr lang="es-CL" sz="1800" b="1" dirty="0">
              <a:solidFill>
                <a:schemeClr val="bg2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9BD8C2C-79F4-AF42-D0DA-39C8E7D262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63689" y="784986"/>
            <a:ext cx="6192688" cy="712788"/>
          </a:xfrm>
        </p:spPr>
        <p:txBody>
          <a:bodyPr/>
          <a:lstStyle/>
          <a:p>
            <a:pPr algn="ctr" defTabSz="762000" eaLnBrk="1" hangingPunct="1">
              <a:spcAft>
                <a:spcPct val="67000"/>
              </a:spcAft>
            </a:pPr>
            <a:r>
              <a:rPr lang="en-US" altLang="es-CL" sz="3600" b="1" dirty="0"/>
              <a:t>Error de </a:t>
            </a:r>
            <a:r>
              <a:rPr lang="en-US" altLang="es-CL" sz="3600" b="1" dirty="0" err="1"/>
              <a:t>estimación</a:t>
            </a:r>
            <a:r>
              <a:rPr lang="en-US" altLang="es-CL" sz="3600" b="1" dirty="0"/>
              <a:t> con Datos </a:t>
            </a:r>
            <a:r>
              <a:rPr lang="en-US" altLang="es-CL" sz="3600" b="1" dirty="0" err="1"/>
              <a:t>Históricos</a:t>
            </a:r>
            <a:endParaRPr lang="en-US" altLang="es-CL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4EA5FE-949E-6F1A-3B66-7AC6C9870B16}"/>
                  </a:ext>
                </a:extLst>
              </p:cNvPr>
              <p:cNvSpPr txBox="1"/>
              <p:nvPr/>
            </p:nvSpPr>
            <p:spPr>
              <a:xfrm>
                <a:off x="2105980" y="4832431"/>
                <a:ext cx="4572000" cy="688458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s-E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1800" b="0" i="1" smtClean="0">
                          <a:latin typeface="Cambria Math" panose="02040503050406030204" pitchFamily="18" charset="0"/>
                        </a:rPr>
                        <m:t>𝑒𝑠𝑡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𝑛𝑑𝑎𝑟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𝑆𝐸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𝑖𝑛𝑑𝑖𝑣𝑖𝑑𝑢𝑎𝑙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CL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4EA5FE-949E-6F1A-3B66-7AC6C9870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980" y="4832431"/>
                <a:ext cx="4572000" cy="6884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uadroTexto 5">
            <a:extLst>
              <a:ext uri="{FF2B5EF4-FFF2-40B4-BE49-F238E27FC236}">
                <a16:creationId xmlns:a16="http://schemas.microsoft.com/office/drawing/2014/main" id="{3EFBA39D-E72C-A110-23BB-AD07A82AE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7383" y="6365478"/>
            <a:ext cx="1677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CL" altLang="es-CL" sz="1800" dirty="0">
                <a:latin typeface="Verdana" panose="020B0604030504040204" pitchFamily="34" charset="0"/>
              </a:rPr>
              <a:t>Ver ejercicio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349D1E-13B0-1005-83B3-AED1FCFCC904}"/>
                  </a:ext>
                </a:extLst>
              </p:cNvPr>
              <p:cNvSpPr txBox="1"/>
              <p:nvPr/>
            </p:nvSpPr>
            <p:spPr>
              <a:xfrm>
                <a:off x="1331640" y="5762573"/>
                <a:ext cx="6120680" cy="807913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𝑅𝑒𝑛𝑑𝑖𝑚𝑖𝑒𝑛𝑡𝑜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𝑝𝑟𝑜𝑚𝑒𝑑𝑖𝑜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h𝑖𝑠𝑡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𝑟𝑖𝑐𝑜</m:t>
                      </m:r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d>
                        <m:dPr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𝑍𝑥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𝑆𝐸</m:t>
                          </m:r>
                        </m:e>
                      </m:d>
                    </m:oMath>
                  </m:oMathPara>
                </a14:m>
                <a:endParaRPr lang="es-ES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CL" sz="1050" dirty="0"/>
                        <m:t>Z</m:t>
                      </m:r>
                      <m:r>
                        <m:rPr>
                          <m:nor/>
                        </m:rPr>
                        <a:rPr lang="en-CL" sz="1050" dirty="0"/>
                        <m:t>=1,96 </m:t>
                      </m:r>
                      <m:r>
                        <m:rPr>
                          <m:nor/>
                        </m:rPr>
                        <a:rPr lang="es-ES" sz="1050" b="0" i="0" dirty="0" smtClean="0"/>
                        <m:t>a</m:t>
                      </m:r>
                      <m:r>
                        <m:rPr>
                          <m:nor/>
                        </m:rPr>
                        <a:rPr lang="es-ES" sz="1050" b="0" i="0" dirty="0" smtClean="0"/>
                        <m:t> </m:t>
                      </m:r>
                      <m:r>
                        <m:rPr>
                          <m:nor/>
                        </m:rPr>
                        <a:rPr lang="en-CL" sz="1050" dirty="0"/>
                        <m:t>95 % </m:t>
                      </m:r>
                      <m:r>
                        <m:rPr>
                          <m:nor/>
                        </m:rPr>
                        <a:rPr lang="en-CL" sz="1050" dirty="0"/>
                        <m:t>de</m:t>
                      </m:r>
                      <m:r>
                        <m:rPr>
                          <m:nor/>
                        </m:rPr>
                        <a:rPr lang="en-CL" sz="1050" dirty="0"/>
                        <m:t> </m:t>
                      </m:r>
                      <m:r>
                        <m:rPr>
                          <m:nor/>
                        </m:rPr>
                        <a:rPr lang="en-CL" sz="1050" dirty="0"/>
                        <m:t>confianza</m:t>
                      </m:r>
                    </m:oMath>
                  </m:oMathPara>
                </a14:m>
                <a:endParaRPr lang="en-CL" dirty="0"/>
              </a:p>
              <a:p>
                <a:r>
                  <a:rPr lang="en-CL" dirty="0"/>
                  <a:t>		   </a:t>
                </a:r>
                <a:r>
                  <a:rPr lang="en-CL" sz="1050" dirty="0"/>
                  <a:t>z= 2,58 a 99% de confianza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349D1E-13B0-1005-83B3-AED1FCFCC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5762573"/>
                <a:ext cx="6120680" cy="8079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90223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E2057-09B2-6207-8363-15A76723C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Imagen 3">
            <a:extLst>
              <a:ext uri="{FF2B5EF4-FFF2-40B4-BE49-F238E27FC236}">
                <a16:creationId xmlns:a16="http://schemas.microsoft.com/office/drawing/2014/main" id="{2F84B6AA-A740-1EFB-AF2B-6572B7535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60330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29C6135-F5A0-6013-5239-DCF3056ADCF5}"/>
                  </a:ext>
                </a:extLst>
              </p:cNvPr>
              <p:cNvSpPr txBox="1"/>
              <p:nvPr/>
            </p:nvSpPr>
            <p:spPr>
              <a:xfrm>
                <a:off x="899592" y="1484313"/>
                <a:ext cx="7560840" cy="53480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q"/>
                  <a:defRPr/>
                </a:pPr>
                <a:r>
                  <a:rPr lang="es-CL" sz="1600" b="1" dirty="0">
                    <a:solidFill>
                      <a:schemeClr val="bg2"/>
                    </a:solidFill>
                  </a:rPr>
                  <a:t>¿Por qué no bastas los rendimientos simples?</a:t>
                </a:r>
              </a:p>
              <a:p>
                <a:pPr marL="800100" lvl="1" indent="-342900" algn="just">
                  <a:buFont typeface="Wingdings" panose="05000000000000000000" pitchFamily="2" charset="2"/>
                  <a:buChar char="q"/>
                  <a:defRPr/>
                </a:pPr>
                <a:endParaRPr lang="es-CL" sz="1600" b="1" dirty="0">
                  <a:solidFill>
                    <a:schemeClr val="bg2"/>
                  </a:solidFill>
                </a:endParaRPr>
              </a:p>
              <a:p>
                <a:pPr marL="800100" lvl="1" indent="-342900" algn="just">
                  <a:buFont typeface="Wingdings" pitchFamily="2" charset="2"/>
                  <a:buChar char="Ø"/>
                  <a:defRPr/>
                </a:pPr>
                <a:r>
                  <a:rPr lang="es-CL" sz="1400" dirty="0">
                    <a:solidFill>
                      <a:schemeClr val="bg2"/>
                    </a:solidFill>
                  </a:rPr>
                  <a:t>Un rendimiento simple está acotado a la izquierda pero no tiene límite a la derecha.</a:t>
                </a:r>
              </a:p>
              <a:p>
                <a:pPr marL="800100" lvl="1" indent="-342900" algn="just">
                  <a:buFont typeface="Wingdings" pitchFamily="2" charset="2"/>
                  <a:buChar char="Ø"/>
                  <a:defRPr/>
                </a:pPr>
                <a:r>
                  <a:rPr lang="es-CL" sz="1400" dirty="0">
                    <a:solidFill>
                      <a:schemeClr val="bg2"/>
                    </a:solidFill>
                  </a:rPr>
                  <a:t>Falta de simetría, por lo tanto, no tenemos distribución normal. </a:t>
                </a:r>
              </a:p>
              <a:p>
                <a:pPr marL="800100" lvl="1" indent="-342900" algn="just">
                  <a:buFont typeface="Wingdings" pitchFamily="2" charset="2"/>
                  <a:buChar char="Ø"/>
                  <a:defRPr/>
                </a:pPr>
                <a:r>
                  <a:rPr lang="es-CL" sz="1400" dirty="0">
                    <a:solidFill>
                      <a:schemeClr val="bg2"/>
                    </a:solidFill>
                  </a:rPr>
                  <a:t>Los valores de errores estándar e intervalos de confianza pierden precisión.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q"/>
                  <a:defRPr/>
                </a:pPr>
                <a:endParaRPr lang="es-CL" sz="1600" b="1" dirty="0">
                  <a:solidFill>
                    <a:schemeClr val="bg2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q"/>
                  <a:defRPr/>
                </a:pPr>
                <a:endParaRPr lang="es-CL" sz="1600" b="1" dirty="0">
                  <a:solidFill>
                    <a:schemeClr val="bg2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q"/>
                  <a:defRPr/>
                </a:pPr>
                <a:r>
                  <a:rPr lang="es-CL" sz="1600" b="1" dirty="0">
                    <a:solidFill>
                      <a:schemeClr val="bg2"/>
                    </a:solidFill>
                  </a:rPr>
                  <a:t>Solución: El logaritmo Natural (</a:t>
                </a:r>
                <a:r>
                  <a:rPr lang="es-CL" sz="1600" b="1" dirty="0" err="1">
                    <a:solidFill>
                      <a:schemeClr val="bg2"/>
                    </a:solidFill>
                  </a:rPr>
                  <a:t>ln</a:t>
                </a:r>
                <a:r>
                  <a:rPr lang="es-CL" sz="1600" b="1" dirty="0">
                    <a:solidFill>
                      <a:schemeClr val="bg2"/>
                    </a:solidFill>
                  </a:rPr>
                  <a:t>)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q"/>
                  <a:defRPr/>
                </a:pPr>
                <a:endParaRPr lang="es-CL" sz="1600" b="1" dirty="0">
                  <a:solidFill>
                    <a:schemeClr val="bg2"/>
                  </a:solidFill>
                </a:endParaRPr>
              </a:p>
              <a:p>
                <a:pPr marL="800100" lvl="1" indent="-342900" algn="just">
                  <a:buFont typeface="Wingdings" pitchFamily="2" charset="2"/>
                  <a:buChar char="Ø"/>
                  <a:defRPr/>
                </a:pPr>
                <a:r>
                  <a:rPr lang="es-CL" sz="1400" dirty="0">
                    <a:solidFill>
                      <a:schemeClr val="bg2"/>
                    </a:solidFill>
                  </a:rPr>
                  <a:t>Transforma los rendimientos discretos en rendimientos compuestos continuamente.</a:t>
                </a:r>
              </a:p>
              <a:p>
                <a:pPr marL="800100" lvl="1" indent="-342900" algn="just">
                  <a:buFont typeface="Wingdings" pitchFamily="2" charset="2"/>
                  <a:buChar char="Ø"/>
                  <a:defRPr/>
                </a:pPr>
                <a:endParaRPr lang="es-CL" sz="1400" i="1" dirty="0">
                  <a:solidFill>
                    <a:schemeClr val="bg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00100" lvl="1" indent="-342900" algn="just">
                  <a:buFont typeface="Wingdings" pitchFamily="2" charset="2"/>
                  <a:buChar char="Ø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</m:sub>
                    </m:sSub>
                    <m:r>
                      <a:rPr lang="es-E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E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s-E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s-E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s-E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s-E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s-E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s-ES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s-E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⁡(1+</m:t>
                    </m:r>
                    <m:sSub>
                      <m:sSubPr>
                        <m:ctrlP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𝑠𝑖𝑚𝑝𝑙𝑒</m:t>
                        </m:r>
                      </m:sub>
                    </m:sSub>
                    <m:r>
                      <a:rPr lang="es-E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CL" sz="1600" b="1" dirty="0">
                  <a:solidFill>
                    <a:schemeClr val="bg2"/>
                  </a:solidFill>
                </a:endParaRPr>
              </a:p>
              <a:p>
                <a:pPr algn="just">
                  <a:defRPr/>
                </a:pPr>
                <a:endParaRPr lang="es-CL" sz="1600" b="1" dirty="0">
                  <a:solidFill>
                    <a:schemeClr val="bg2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q"/>
                  <a:defRPr/>
                </a:pPr>
                <a:endParaRPr lang="es-CL" sz="1600" b="1" dirty="0">
                  <a:solidFill>
                    <a:schemeClr val="bg2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q"/>
                  <a:defRPr/>
                </a:pPr>
                <a:r>
                  <a:rPr lang="es-CL" sz="1600" b="1" dirty="0">
                    <a:solidFill>
                      <a:schemeClr val="bg2"/>
                    </a:solidFill>
                  </a:rPr>
                  <a:t>Propiedades 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q"/>
                  <a:defRPr/>
                </a:pPr>
                <a:endParaRPr lang="es-CL" sz="1600" b="1" dirty="0">
                  <a:solidFill>
                    <a:schemeClr val="bg2"/>
                  </a:solidFill>
                </a:endParaRPr>
              </a:p>
              <a:p>
                <a:pPr marL="800100" lvl="1" indent="-342900" algn="just">
                  <a:buFont typeface="Wingdings" pitchFamily="2" charset="2"/>
                  <a:buChar char="Ø"/>
                  <a:defRPr/>
                </a:pPr>
                <a:r>
                  <a:rPr lang="es-CL" sz="1400" dirty="0">
                    <a:solidFill>
                      <a:schemeClr val="bg2"/>
                    </a:solidFill>
                  </a:rPr>
                  <a:t>Simetría perfecta</a:t>
                </a:r>
              </a:p>
              <a:p>
                <a:pPr marL="800100" lvl="1" indent="-342900" algn="just">
                  <a:buFont typeface="Wingdings" pitchFamily="2" charset="2"/>
                  <a:buChar char="Ø"/>
                  <a:defRPr/>
                </a:pPr>
                <a:r>
                  <a:rPr lang="es-CL" sz="1400" dirty="0">
                    <a:solidFill>
                      <a:schemeClr val="bg2"/>
                    </a:solidFill>
                  </a:rPr>
                  <a:t>Actividad temporal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q"/>
                  <a:defRPr/>
                </a:pPr>
                <a:endParaRPr lang="es-CL" sz="1600" b="1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29C6135-F5A0-6013-5239-DCF3056AD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484313"/>
                <a:ext cx="7560840" cy="5348067"/>
              </a:xfrm>
              <a:prstGeom prst="rect">
                <a:avLst/>
              </a:prstGeom>
              <a:blipFill>
                <a:blip r:embed="rId4"/>
                <a:stretch>
                  <a:fillRect l="-503" t="-236" r="-168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7">
            <a:extLst>
              <a:ext uri="{FF2B5EF4-FFF2-40B4-BE49-F238E27FC236}">
                <a16:creationId xmlns:a16="http://schemas.microsoft.com/office/drawing/2014/main" id="{E949C019-592B-022E-F926-3519957717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7704" y="496854"/>
            <a:ext cx="6419056" cy="712788"/>
          </a:xfrm>
        </p:spPr>
        <p:txBody>
          <a:bodyPr/>
          <a:lstStyle/>
          <a:p>
            <a:pPr defTabSz="762000" eaLnBrk="1" hangingPunct="1">
              <a:spcAft>
                <a:spcPct val="67000"/>
              </a:spcAft>
            </a:pPr>
            <a:r>
              <a:rPr lang="en-US" altLang="es-CL" sz="3600" b="1" dirty="0" err="1"/>
              <a:t>Retornos</a:t>
            </a:r>
            <a:r>
              <a:rPr lang="en-US" altLang="es-CL" sz="3600" b="1" dirty="0"/>
              <a:t> y </a:t>
            </a:r>
            <a:r>
              <a:rPr lang="en-US" altLang="es-CL" sz="3600" b="1" dirty="0" err="1"/>
              <a:t>Logaritmo</a:t>
            </a:r>
            <a:r>
              <a:rPr lang="en-US" altLang="es-CL" sz="3600" b="1" dirty="0"/>
              <a:t> Natural</a:t>
            </a:r>
          </a:p>
        </p:txBody>
      </p:sp>
    </p:spTree>
    <p:extLst>
      <p:ext uri="{BB962C8B-B14F-4D97-AF65-F5344CB8AC3E}">
        <p14:creationId xmlns:p14="http://schemas.microsoft.com/office/powerpoint/2010/main" val="5971181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9631E-13C1-B2EA-678C-AD7425A9D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Imagen 3">
            <a:extLst>
              <a:ext uri="{FF2B5EF4-FFF2-40B4-BE49-F238E27FC236}">
                <a16:creationId xmlns:a16="http://schemas.microsoft.com/office/drawing/2014/main" id="{908BE5AC-20B6-DBAA-CD1F-2982D01B8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60330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9198BC8-A120-13F9-59C0-91FDE9A00CC6}"/>
              </a:ext>
            </a:extLst>
          </p:cNvPr>
          <p:cNvSpPr txBox="1"/>
          <p:nvPr/>
        </p:nvSpPr>
        <p:spPr>
          <a:xfrm>
            <a:off x="35496" y="1888225"/>
            <a:ext cx="8604448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r>
              <a:rPr lang="es-CL" sz="1400" b="1" dirty="0">
                <a:solidFill>
                  <a:schemeClr val="bg2"/>
                </a:solidFill>
              </a:rPr>
              <a:t>Las rentabilidades pueden mostrarse como un paseo aleatorio (</a:t>
            </a:r>
            <a:r>
              <a:rPr lang="es-CL" sz="1400" b="1" dirty="0" err="1">
                <a:solidFill>
                  <a:schemeClr val="bg2"/>
                </a:solidFill>
              </a:rPr>
              <a:t>random</a:t>
            </a:r>
            <a:r>
              <a:rPr lang="es-CL" sz="1400" b="1" dirty="0">
                <a:solidFill>
                  <a:schemeClr val="bg2"/>
                </a:solidFill>
              </a:rPr>
              <a:t> </a:t>
            </a:r>
            <a:r>
              <a:rPr lang="es-CL" sz="1400" b="1" dirty="0" err="1">
                <a:solidFill>
                  <a:schemeClr val="bg2"/>
                </a:solidFill>
              </a:rPr>
              <a:t>walk</a:t>
            </a:r>
            <a:r>
              <a:rPr lang="es-CL" sz="1400" b="1" dirty="0">
                <a:solidFill>
                  <a:schemeClr val="bg2"/>
                </a:solidFill>
              </a:rPr>
              <a:t>), donde el pasado no necesariamente predice el futuro.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endParaRPr lang="es-CL" sz="1400" b="1" dirty="0">
              <a:solidFill>
                <a:schemeClr val="bg2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r>
              <a:rPr lang="es-CL" sz="1400" b="1" dirty="0">
                <a:solidFill>
                  <a:schemeClr val="bg2"/>
                </a:solidFill>
              </a:rPr>
              <a:t>Esto significa que los cambios de precio de un día a otro son impredecibles y no dependen sistemáticamente de lo que pasó antes (en muchos casos los precios se comportan de manera aleatoria).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endParaRPr lang="es-CL" sz="1400" b="1" dirty="0">
              <a:solidFill>
                <a:schemeClr val="bg2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r>
              <a:rPr lang="es-CL" sz="1400" b="1" dirty="0">
                <a:solidFill>
                  <a:schemeClr val="bg2"/>
                </a:solidFill>
              </a:rPr>
              <a:t>En otras palabras, el mercado ya incorpora toda la información disponible, y cualquier cambio futuro es aleatorio y nuevo.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endParaRPr lang="es-CL" sz="1400" b="1" dirty="0">
              <a:solidFill>
                <a:schemeClr val="bg2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r>
              <a:rPr lang="es-CL" sz="1400" b="1" dirty="0">
                <a:solidFill>
                  <a:schemeClr val="bg2"/>
                </a:solidFill>
              </a:rPr>
              <a:t>Los datos históricos nos permiten una referencia, pero la variabilidad es alta. Recordemos que gestionamos probabilidades y riesgos, no certezas.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endParaRPr lang="es-CL" sz="1400" b="1" dirty="0">
              <a:solidFill>
                <a:schemeClr val="bg2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r>
              <a:rPr lang="es-CL" sz="1400" b="1" dirty="0">
                <a:solidFill>
                  <a:schemeClr val="bg2"/>
                </a:solidFill>
              </a:rPr>
              <a:t>La hipótesis sugiere que los precios son independientes e igualmente distribuidos (</a:t>
            </a:r>
            <a:r>
              <a:rPr lang="es-CL" sz="1400" b="1" dirty="0" err="1">
                <a:solidFill>
                  <a:schemeClr val="bg2"/>
                </a:solidFill>
              </a:rPr>
              <a:t>iid</a:t>
            </a:r>
            <a:r>
              <a:rPr lang="es-CL" sz="1400" b="1" dirty="0">
                <a:solidFill>
                  <a:schemeClr val="bg2"/>
                </a:solidFill>
              </a:rPr>
              <a:t>), significa que el retorno de hoy no depende del retorno de ayer ni del ningún otro día y que todos siguen la misma distribución estadística (misma media y volatilidad)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endParaRPr lang="es-CL" sz="1400" b="1" dirty="0">
              <a:solidFill>
                <a:schemeClr val="bg2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endParaRPr lang="es-CL" sz="1400" b="1" dirty="0">
              <a:solidFill>
                <a:schemeClr val="bg2"/>
              </a:solidFill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6810A395-27FB-0427-A730-828E0FDEB9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63688" y="771525"/>
            <a:ext cx="6419056" cy="712788"/>
          </a:xfrm>
        </p:spPr>
        <p:txBody>
          <a:bodyPr/>
          <a:lstStyle/>
          <a:p>
            <a:pPr algn="ctr" defTabSz="762000" eaLnBrk="1" hangingPunct="1">
              <a:spcAft>
                <a:spcPct val="67000"/>
              </a:spcAft>
            </a:pPr>
            <a:r>
              <a:rPr lang="en-US" altLang="es-CL" sz="3600" b="1" dirty="0" err="1"/>
              <a:t>Hipótesis</a:t>
            </a:r>
            <a:r>
              <a:rPr lang="en-US" altLang="es-CL" sz="3600" b="1" dirty="0"/>
              <a:t> del Paseo </a:t>
            </a:r>
            <a:r>
              <a:rPr lang="en-US" altLang="es-CL" sz="3600" b="1" dirty="0" err="1"/>
              <a:t>Aleatorio</a:t>
            </a:r>
            <a:r>
              <a:rPr lang="en-US" altLang="es-CL" sz="3600" b="1" dirty="0"/>
              <a:t> de </a:t>
            </a:r>
            <a:r>
              <a:rPr lang="en-US" altLang="es-CL" sz="3600" b="1" dirty="0" err="1"/>
              <a:t>los</a:t>
            </a:r>
            <a:r>
              <a:rPr lang="en-US" altLang="es-CL" sz="3600" b="1" dirty="0"/>
              <a:t> </a:t>
            </a:r>
            <a:r>
              <a:rPr lang="en-US" altLang="es-CL" sz="3600" b="1" dirty="0" err="1"/>
              <a:t>precios</a:t>
            </a:r>
            <a:r>
              <a:rPr lang="en-US" altLang="es-CL" sz="3600" b="1" dirty="0"/>
              <a:t> de las </a:t>
            </a:r>
            <a:r>
              <a:rPr lang="en-US" altLang="es-CL" sz="3600" b="1" dirty="0" err="1"/>
              <a:t>acciones</a:t>
            </a:r>
            <a:endParaRPr lang="en-US" altLang="es-CL" sz="3600" b="1" dirty="0"/>
          </a:p>
        </p:txBody>
      </p:sp>
    </p:spTree>
    <p:extLst>
      <p:ext uri="{BB962C8B-B14F-4D97-AF65-F5344CB8AC3E}">
        <p14:creationId xmlns:p14="http://schemas.microsoft.com/office/powerpoint/2010/main" val="317928041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F15C8-1ABE-7573-114A-71A277245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Imagen 3">
            <a:extLst>
              <a:ext uri="{FF2B5EF4-FFF2-40B4-BE49-F238E27FC236}">
                <a16:creationId xmlns:a16="http://schemas.microsoft.com/office/drawing/2014/main" id="{ABFC035A-741A-4DDD-37C7-EC9FDFCED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60330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4D5AA6D-FD98-8284-CD62-BFD908C95D15}"/>
              </a:ext>
            </a:extLst>
          </p:cNvPr>
          <p:cNvSpPr txBox="1"/>
          <p:nvPr/>
        </p:nvSpPr>
        <p:spPr>
          <a:xfrm>
            <a:off x="0" y="1700808"/>
            <a:ext cx="882094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r>
              <a:rPr lang="es-CL" sz="1600" dirty="0">
                <a:solidFill>
                  <a:schemeClr val="bg2"/>
                </a:solidFill>
              </a:rPr>
              <a:t>El mercado refleja toda la información disponible y los movimientos son puramente aleatorios.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r>
              <a:rPr lang="es-CL" sz="1600" dirty="0">
                <a:solidFill>
                  <a:schemeClr val="bg2"/>
                </a:solidFill>
              </a:rPr>
              <a:t>No es posible obtener rendimientos superiores al promedio de manera consistente ajustada por riesgo, porque cualquier nueva información relevante se incorpora de inmediato en los precios.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r>
              <a:rPr lang="es-CL" sz="1600" dirty="0">
                <a:solidFill>
                  <a:schemeClr val="bg2"/>
                </a:solidFill>
              </a:rPr>
              <a:t>La hipótesis tiene 3 versiones:</a:t>
            </a:r>
          </a:p>
          <a:p>
            <a:pPr marL="1200150" lvl="2" indent="-285750" algn="just">
              <a:buFont typeface="Wingdings" panose="05000000000000000000" pitchFamily="2" charset="2"/>
              <a:buChar char="ü"/>
              <a:defRPr/>
            </a:pPr>
            <a:r>
              <a:rPr lang="es-CL" sz="1600" dirty="0">
                <a:solidFill>
                  <a:schemeClr val="bg2"/>
                </a:solidFill>
              </a:rPr>
              <a:t>Forma débil: Los P incorporan toda la información en </a:t>
            </a:r>
            <a:r>
              <a:rPr lang="es-CL" sz="1600" i="1" dirty="0">
                <a:solidFill>
                  <a:schemeClr val="bg2"/>
                </a:solidFill>
              </a:rPr>
              <a:t>t-i, con i=1,2…</a:t>
            </a:r>
          </a:p>
          <a:p>
            <a:pPr marL="1200150" lvl="2" indent="-285750" algn="just">
              <a:buFont typeface="Wingdings" panose="05000000000000000000" pitchFamily="2" charset="2"/>
              <a:buChar char="ü"/>
              <a:defRPr/>
            </a:pPr>
            <a:r>
              <a:rPr lang="es-CL" sz="1600" dirty="0">
                <a:solidFill>
                  <a:schemeClr val="bg2"/>
                </a:solidFill>
              </a:rPr>
              <a:t>Forma semi fuerte: También incorpora información pública.</a:t>
            </a:r>
          </a:p>
          <a:p>
            <a:pPr marL="1200150" lvl="2" indent="-285750" algn="just">
              <a:buFont typeface="Wingdings" panose="05000000000000000000" pitchFamily="2" charset="2"/>
              <a:buChar char="ü"/>
              <a:defRPr/>
            </a:pPr>
            <a:r>
              <a:rPr lang="es-CL" sz="1600" dirty="0">
                <a:solidFill>
                  <a:schemeClr val="bg2"/>
                </a:solidFill>
              </a:rPr>
              <a:t>Forma fuerte: Incorpora toda la información pública y privada.</a:t>
            </a:r>
          </a:p>
          <a:p>
            <a:pPr lvl="1" algn="just"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r>
              <a:rPr lang="es-CL" sz="1600" dirty="0">
                <a:solidFill>
                  <a:schemeClr val="bg2"/>
                </a:solidFill>
              </a:rPr>
              <a:t>En la práctica, los mercados reales tienden a ser débil y </a:t>
            </a:r>
            <a:r>
              <a:rPr lang="es-CL" sz="1600" dirty="0" err="1">
                <a:solidFill>
                  <a:schemeClr val="bg2"/>
                </a:solidFill>
              </a:rPr>
              <a:t>semifuerte</a:t>
            </a:r>
            <a:r>
              <a:rPr lang="es-CL" sz="1600" dirty="0">
                <a:solidFill>
                  <a:schemeClr val="bg2"/>
                </a:solidFill>
              </a:rPr>
              <a:t>. Si toda la información pasada está incorporada, los cambios de precios deben ser aleatorios respecto al pasado.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742950" lvl="1" indent="-285750" algn="just">
              <a:buFont typeface="Wingdings" panose="05000000000000000000" pitchFamily="2" charset="2"/>
              <a:buChar char="ü"/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lvl="2" algn="just">
              <a:defRPr/>
            </a:pPr>
            <a:endParaRPr lang="es-CL" sz="1600" b="1" dirty="0">
              <a:solidFill>
                <a:schemeClr val="bg2"/>
              </a:solidFill>
            </a:endParaRPr>
          </a:p>
          <a:p>
            <a:pPr marL="1200150" lvl="2" indent="-285750" algn="just">
              <a:buFont typeface="Wingdings" panose="05000000000000000000" pitchFamily="2" charset="2"/>
              <a:buChar char="ü"/>
              <a:defRPr/>
            </a:pPr>
            <a:endParaRPr lang="es-CL" sz="1600" b="1" i="1" dirty="0">
              <a:solidFill>
                <a:schemeClr val="bg2"/>
              </a:solidFill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2B0DE732-49E6-AE63-39E9-097B056FA3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63688" y="771525"/>
            <a:ext cx="6419056" cy="712788"/>
          </a:xfrm>
        </p:spPr>
        <p:txBody>
          <a:bodyPr/>
          <a:lstStyle/>
          <a:p>
            <a:pPr algn="ctr" defTabSz="762000" eaLnBrk="1" hangingPunct="1">
              <a:spcAft>
                <a:spcPct val="67000"/>
              </a:spcAft>
            </a:pPr>
            <a:r>
              <a:rPr lang="en-US" altLang="es-CL" sz="3600" b="1" dirty="0"/>
              <a:t>Paseo </a:t>
            </a:r>
            <a:r>
              <a:rPr lang="en-US" altLang="es-CL" sz="3600" b="1" dirty="0" err="1"/>
              <a:t>aleatorio</a:t>
            </a:r>
            <a:r>
              <a:rPr lang="en-US" altLang="es-CL" sz="3600" b="1" dirty="0"/>
              <a:t> y la </a:t>
            </a:r>
            <a:r>
              <a:rPr lang="en-US" altLang="es-CL" sz="3600" b="1" dirty="0" err="1"/>
              <a:t>Hipótesis</a:t>
            </a:r>
            <a:r>
              <a:rPr lang="en-US" altLang="es-CL" sz="3600" b="1" dirty="0"/>
              <a:t> de </a:t>
            </a:r>
            <a:r>
              <a:rPr lang="en-US" altLang="es-CL" sz="3600" b="1" dirty="0" err="1"/>
              <a:t>eficiencia</a:t>
            </a:r>
            <a:r>
              <a:rPr lang="en-US" altLang="es-CL" sz="3600" b="1" dirty="0"/>
              <a:t> (EMH)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0ADDDC-04E1-DAB2-2C1F-C8C272450578}"/>
              </a:ext>
            </a:extLst>
          </p:cNvPr>
          <p:cNvSpPr txBox="1"/>
          <p:nvPr/>
        </p:nvSpPr>
        <p:spPr>
          <a:xfrm>
            <a:off x="323056" y="6343781"/>
            <a:ext cx="84978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Fama</a:t>
            </a:r>
            <a:r>
              <a:rPr lang="en-US" sz="1400" dirty="0"/>
              <a:t>, Eugene F. (1970). </a:t>
            </a:r>
            <a:r>
              <a:rPr lang="en-US" sz="1400" i="1" dirty="0"/>
              <a:t>Efficient Capital Markets: A Review of Theory and Empirical Work</a:t>
            </a:r>
            <a:r>
              <a:rPr lang="en-US" sz="1400" dirty="0"/>
              <a:t>.</a:t>
            </a:r>
            <a:endParaRPr lang="en-CL" sz="1400" dirty="0"/>
          </a:p>
        </p:txBody>
      </p:sp>
    </p:spTree>
    <p:extLst>
      <p:ext uri="{BB962C8B-B14F-4D97-AF65-F5344CB8AC3E}">
        <p14:creationId xmlns:p14="http://schemas.microsoft.com/office/powerpoint/2010/main" val="290566528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F4D67-3ED1-603A-4A9D-E25F4D4A7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Imagen 3">
            <a:extLst>
              <a:ext uri="{FF2B5EF4-FFF2-40B4-BE49-F238E27FC236}">
                <a16:creationId xmlns:a16="http://schemas.microsoft.com/office/drawing/2014/main" id="{3D91C872-2B21-8733-BDB7-409155DCF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60330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7FDEE74-61CB-799B-D07F-10B6CD63E302}"/>
              </a:ext>
            </a:extLst>
          </p:cNvPr>
          <p:cNvSpPr txBox="1"/>
          <p:nvPr/>
        </p:nvSpPr>
        <p:spPr>
          <a:xfrm>
            <a:off x="755662" y="1763052"/>
            <a:ext cx="763267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  <a:defRPr/>
            </a:pPr>
            <a:r>
              <a:rPr lang="es-CL" sz="1600" dirty="0">
                <a:solidFill>
                  <a:schemeClr val="bg2"/>
                </a:solidFill>
              </a:rPr>
              <a:t>Un paseo aleatorio simula precios como si cada día dieras un paso al azar: a veces adelante, a veces atrás, pero cada paso es independiente al anterior.</a:t>
            </a:r>
          </a:p>
          <a:p>
            <a:pPr marL="285750" indent="-285750" algn="just">
              <a:buFont typeface="Wingdings" pitchFamily="2" charset="2"/>
              <a:buChar char="Ø"/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marL="285750" indent="-285750" algn="just">
              <a:buFont typeface="Wingdings" pitchFamily="2" charset="2"/>
              <a:buChar char="Ø"/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marL="285750" indent="-285750" algn="just">
              <a:buFont typeface="Wingdings" pitchFamily="2" charset="2"/>
              <a:buChar char="Ø"/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marL="285750" indent="-285750" algn="just">
              <a:buFont typeface="Wingdings" pitchFamily="2" charset="2"/>
              <a:buChar char="Ø"/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marL="285750" indent="-285750" algn="just">
              <a:buFont typeface="Wingdings" pitchFamily="2" charset="2"/>
              <a:buChar char="Ø"/>
              <a:defRPr/>
            </a:pPr>
            <a:r>
              <a:rPr lang="es-CL" sz="1600" dirty="0">
                <a:solidFill>
                  <a:schemeClr val="bg2"/>
                </a:solidFill>
              </a:rPr>
              <a:t>De esta manera, podemos concluir que la ecuación nos indica que el precio es simplemente el precio inicial más una tendencia y el efecto acumulativo de todos los shocks (noticias no anticipadas).</a:t>
            </a:r>
          </a:p>
          <a:p>
            <a:pPr marL="285750" indent="-285750" algn="just">
              <a:buFont typeface="Wingdings" pitchFamily="2" charset="2"/>
              <a:buChar char="Ø"/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marL="285750" indent="-285750" algn="just">
              <a:buFont typeface="Wingdings" pitchFamily="2" charset="2"/>
              <a:buChar char="Ø"/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marL="285750" indent="-285750" algn="just">
              <a:buFont typeface="Wingdings" pitchFamily="2" charset="2"/>
              <a:buChar char="Ø"/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marL="285750" indent="-285750" algn="just">
              <a:buFont typeface="Wingdings" pitchFamily="2" charset="2"/>
              <a:buChar char="Ø"/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marL="285750" indent="-285750" algn="just">
              <a:buFont typeface="Wingdings" pitchFamily="2" charset="2"/>
              <a:buChar char="Ø"/>
              <a:defRPr/>
            </a:pPr>
            <a:r>
              <a:rPr lang="es-CL" sz="1600" dirty="0">
                <a:solidFill>
                  <a:schemeClr val="bg2"/>
                </a:solidFill>
              </a:rPr>
              <a:t>Vamos a utilizar Excel para simular un paseo aleatorio de los precios.</a:t>
            </a:r>
          </a:p>
          <a:p>
            <a:pPr marL="1200150" lvl="2" indent="-285750" algn="just">
              <a:buFont typeface="Wingdings" panose="05000000000000000000" pitchFamily="2" charset="2"/>
              <a:buChar char="ü"/>
              <a:defRPr/>
            </a:pPr>
            <a:endParaRPr lang="es-CL" sz="1600" b="1" i="1" dirty="0">
              <a:solidFill>
                <a:schemeClr val="bg2"/>
              </a:solidFill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32B39D32-3FAC-7033-3218-2E55DD2932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63688" y="771525"/>
            <a:ext cx="6419056" cy="712788"/>
          </a:xfrm>
        </p:spPr>
        <p:txBody>
          <a:bodyPr/>
          <a:lstStyle/>
          <a:p>
            <a:pPr algn="ctr" defTabSz="762000" eaLnBrk="1" hangingPunct="1">
              <a:spcAft>
                <a:spcPct val="67000"/>
              </a:spcAft>
            </a:pPr>
            <a:r>
              <a:rPr lang="en-US" altLang="es-CL" sz="3600" b="1" dirty="0"/>
              <a:t>Paseo </a:t>
            </a:r>
            <a:r>
              <a:rPr lang="en-US" altLang="es-CL" sz="3600" b="1" dirty="0" err="1"/>
              <a:t>aleatorio</a:t>
            </a:r>
            <a:r>
              <a:rPr lang="en-US" altLang="es-CL" sz="3600" b="1" dirty="0"/>
              <a:t> y la </a:t>
            </a:r>
            <a:r>
              <a:rPr lang="en-US" altLang="es-CL" sz="3600" b="1" dirty="0" err="1"/>
              <a:t>Hipótesis</a:t>
            </a:r>
            <a:r>
              <a:rPr lang="en-US" altLang="es-CL" sz="3600" b="1" dirty="0"/>
              <a:t> de </a:t>
            </a:r>
            <a:r>
              <a:rPr lang="en-US" altLang="es-CL" sz="3600" b="1" dirty="0" err="1"/>
              <a:t>eficiencia</a:t>
            </a:r>
            <a:r>
              <a:rPr lang="en-US" altLang="es-CL" sz="3600" b="1" dirty="0"/>
              <a:t> (EMH)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4406E4-59DD-96EF-9D20-E8481FB3C5B0}"/>
                  </a:ext>
                </a:extLst>
              </p:cNvPr>
              <p:cNvSpPr txBox="1"/>
              <p:nvPr/>
            </p:nvSpPr>
            <p:spPr>
              <a:xfrm>
                <a:off x="1907704" y="284027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s-E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s-E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CL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4406E4-59DD-96EF-9D20-E8481FB3C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2840270"/>
                <a:ext cx="4572000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397CDE-838C-7370-4B57-67702627C42C}"/>
                  </a:ext>
                </a:extLst>
              </p:cNvPr>
              <p:cNvSpPr txBox="1"/>
              <p:nvPr/>
            </p:nvSpPr>
            <p:spPr>
              <a:xfrm>
                <a:off x="2555776" y="4563819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s-E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L" dirty="0"/>
                  <a:t>+</a:t>
                </a:r>
                <a:r>
                  <a:rPr lang="es-E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CL" dirty="0"/>
                  <a:t>+…+</a:t>
                </a:r>
                <a:r>
                  <a:rPr lang="es-E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CL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397CDE-838C-7370-4B57-67702627C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4563819"/>
                <a:ext cx="4572000" cy="369332"/>
              </a:xfrm>
              <a:prstGeom prst="rect">
                <a:avLst/>
              </a:prstGeom>
              <a:blipFill>
                <a:blip r:embed="rId5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0526463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F3F04-2C2A-6FA6-B12B-8EB70A28A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Imagen 3">
            <a:extLst>
              <a:ext uri="{FF2B5EF4-FFF2-40B4-BE49-F238E27FC236}">
                <a16:creationId xmlns:a16="http://schemas.microsoft.com/office/drawing/2014/main" id="{22076162-E65D-349B-B9D4-B6E3F1EB7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60330"/>
            <a:ext cx="720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A186340-6206-2F0A-D51E-DD7C267C9D63}"/>
              </a:ext>
            </a:extLst>
          </p:cNvPr>
          <p:cNvSpPr txBox="1"/>
          <p:nvPr/>
        </p:nvSpPr>
        <p:spPr>
          <a:xfrm>
            <a:off x="467544" y="1628800"/>
            <a:ext cx="8136904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s-CL" sz="1600" b="1" dirty="0">
                <a:solidFill>
                  <a:schemeClr val="bg2"/>
                </a:solidFill>
              </a:rPr>
              <a:t>Simulación de precios futuro del IPSA mediante proceso aleatorio</a:t>
            </a:r>
            <a:r>
              <a:rPr lang="es-CL" sz="1600" dirty="0">
                <a:solidFill>
                  <a:schemeClr val="bg2"/>
                </a:solidFill>
              </a:rPr>
              <a:t>.</a:t>
            </a:r>
          </a:p>
          <a:p>
            <a:pPr algn="just"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algn="just">
              <a:defRPr/>
            </a:pPr>
            <a:r>
              <a:rPr lang="es-CL" sz="1600" dirty="0">
                <a:solidFill>
                  <a:schemeClr val="bg2"/>
                </a:solidFill>
              </a:rPr>
              <a:t>Se desea modelar la posible trayectoria de precios del Indicador bursátil durante los próximos 24 meses mediante un paseo aleatorio con tendencia </a:t>
            </a:r>
          </a:p>
          <a:p>
            <a:pPr algn="just"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algn="ctr">
              <a:defRPr/>
            </a:pPr>
            <a:r>
              <a:rPr lang="es-CL" sz="1600" dirty="0">
                <a:solidFill>
                  <a:schemeClr val="bg2"/>
                </a:solidFill>
              </a:rPr>
              <a:t>Descargar datos históricos IPSA 2010-2024(SIVEDUCMD)</a:t>
            </a:r>
          </a:p>
          <a:p>
            <a:pPr algn="ctr"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algn="ctr">
              <a:defRPr/>
            </a:pPr>
            <a:r>
              <a:rPr lang="es-CL" sz="1600" dirty="0">
                <a:solidFill>
                  <a:schemeClr val="bg2"/>
                </a:solidFill>
              </a:rPr>
              <a:t>Preparar datos en Excel (fecha y precios)</a:t>
            </a:r>
          </a:p>
          <a:p>
            <a:pPr algn="ctr"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algn="ctr">
              <a:defRPr/>
            </a:pPr>
            <a:r>
              <a:rPr lang="es-CL" sz="1600" dirty="0">
                <a:solidFill>
                  <a:schemeClr val="bg2"/>
                </a:solidFill>
              </a:rPr>
              <a:t>Calcular </a:t>
            </a:r>
            <a:r>
              <a:rPr lang="es-CL" sz="1600">
                <a:solidFill>
                  <a:schemeClr val="bg2"/>
                </a:solidFill>
              </a:rPr>
              <a:t>retornos mensuales </a:t>
            </a:r>
            <a:r>
              <a:rPr lang="es-CL" sz="1600" dirty="0">
                <a:solidFill>
                  <a:schemeClr val="bg2"/>
                </a:solidFill>
              </a:rPr>
              <a:t>y logarítmicos</a:t>
            </a:r>
          </a:p>
          <a:p>
            <a:pPr algn="ctr"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algn="ctr">
              <a:defRPr/>
            </a:pPr>
            <a:r>
              <a:rPr lang="es-CL" sz="1600" dirty="0">
                <a:solidFill>
                  <a:schemeClr val="bg2"/>
                </a:solidFill>
              </a:rPr>
              <a:t>Estimar media y desviación estándar (de retornos diarios)</a:t>
            </a:r>
          </a:p>
          <a:p>
            <a:pPr algn="ctr"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algn="ctr">
              <a:defRPr/>
            </a:pPr>
            <a:r>
              <a:rPr lang="es-CL" sz="1600" dirty="0">
                <a:solidFill>
                  <a:schemeClr val="bg2"/>
                </a:solidFill>
              </a:rPr>
              <a:t>Simular paseo aleatorio</a:t>
            </a:r>
          </a:p>
          <a:p>
            <a:pPr algn="ctr"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algn="ctr">
              <a:defRPr/>
            </a:pPr>
            <a:r>
              <a:rPr lang="es-CL" sz="1600" dirty="0">
                <a:solidFill>
                  <a:schemeClr val="bg2"/>
                </a:solidFill>
              </a:rPr>
              <a:t>Arrastrar fórmulas.</a:t>
            </a:r>
          </a:p>
          <a:p>
            <a:pPr algn="ctr"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algn="ctr"/>
            <a:r>
              <a:rPr lang="en-US" sz="1200" dirty="0"/>
              <a:t>Bodie, </a:t>
            </a:r>
            <a:r>
              <a:rPr lang="en-US" sz="1200" dirty="0" err="1"/>
              <a:t>Zvi</a:t>
            </a:r>
            <a:r>
              <a:rPr lang="en-US" sz="1200" dirty="0"/>
              <a:t>; Kane, Alex; Marcus, Alan J. (2019). </a:t>
            </a:r>
            <a:r>
              <a:rPr lang="en-US" sz="1200" i="1" dirty="0"/>
              <a:t>Investments</a:t>
            </a:r>
            <a:r>
              <a:rPr lang="en-US" sz="1200" dirty="0"/>
              <a:t>.</a:t>
            </a:r>
          </a:p>
          <a:p>
            <a:pPr algn="ctr"/>
            <a:r>
              <a:rPr lang="en-US" sz="1200" dirty="0"/>
              <a:t>Malkiel, Burton G. (2019). </a:t>
            </a:r>
            <a:r>
              <a:rPr lang="en-US" sz="1200" i="1" dirty="0"/>
              <a:t>A Random Walk Down Wall Street</a:t>
            </a:r>
            <a:r>
              <a:rPr lang="en-US" sz="1200" dirty="0"/>
              <a:t>.</a:t>
            </a:r>
            <a:endParaRPr lang="es-CL" sz="1200" dirty="0">
              <a:solidFill>
                <a:schemeClr val="bg2"/>
              </a:solidFill>
            </a:endParaRPr>
          </a:p>
          <a:p>
            <a:pPr algn="just">
              <a:defRPr/>
            </a:pPr>
            <a:endParaRPr lang="es-CL" sz="1600" dirty="0">
              <a:solidFill>
                <a:schemeClr val="bg2"/>
              </a:solidFill>
            </a:endParaRPr>
          </a:p>
          <a:p>
            <a:pPr marL="1200150" lvl="2" indent="-285750" algn="just">
              <a:buFont typeface="Wingdings" panose="05000000000000000000" pitchFamily="2" charset="2"/>
              <a:buChar char="ü"/>
              <a:defRPr/>
            </a:pPr>
            <a:endParaRPr lang="es-CL" sz="1600" b="1" i="1" dirty="0">
              <a:solidFill>
                <a:schemeClr val="bg2"/>
              </a:solidFill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3DEC2785-2D73-F64A-43A3-9BD8BDB447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2472" y="530038"/>
            <a:ext cx="6419056" cy="712788"/>
          </a:xfrm>
        </p:spPr>
        <p:txBody>
          <a:bodyPr/>
          <a:lstStyle/>
          <a:p>
            <a:pPr algn="ctr" defTabSz="762000" eaLnBrk="1" hangingPunct="1">
              <a:spcAft>
                <a:spcPct val="67000"/>
              </a:spcAft>
            </a:pPr>
            <a:r>
              <a:rPr lang="en-US" altLang="es-CL" sz="3600" b="1" dirty="0" err="1"/>
              <a:t>Simulación</a:t>
            </a:r>
            <a:r>
              <a:rPr lang="en-US" altLang="es-CL" sz="3600" b="1" dirty="0"/>
              <a:t> Paseo </a:t>
            </a:r>
            <a:r>
              <a:rPr lang="en-US" altLang="es-CL" sz="3600" b="1" dirty="0" err="1"/>
              <a:t>Aleatorio</a:t>
            </a:r>
            <a:endParaRPr lang="en-US" altLang="es-CL" sz="3600" b="1" dirty="0"/>
          </a:p>
        </p:txBody>
      </p:sp>
    </p:spTree>
    <p:extLst>
      <p:ext uri="{BB962C8B-B14F-4D97-AF65-F5344CB8AC3E}">
        <p14:creationId xmlns:p14="http://schemas.microsoft.com/office/powerpoint/2010/main" val="71627484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Level">
  <a:themeElements>
    <a:clrScheme name="Custom 7">
      <a:dk1>
        <a:sysClr val="windowText" lastClr="000000"/>
      </a:dk1>
      <a:lt1>
        <a:sysClr val="window" lastClr="FFFFFF"/>
      </a:lt1>
      <a:dk2>
        <a:srgbClr val="1F497D"/>
      </a:dk2>
      <a:lt2>
        <a:srgbClr val="25599A"/>
      </a:lt2>
      <a:accent1>
        <a:srgbClr val="C6D9F0"/>
      </a:accent1>
      <a:accent2>
        <a:srgbClr val="4180D0"/>
      </a:accent2>
      <a:accent3>
        <a:srgbClr val="2C67B1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11901324</TotalTime>
  <Pages>57</Pages>
  <Words>1853</Words>
  <Application>Microsoft Macintosh PowerPoint</Application>
  <PresentationFormat>Letter Paper (8.5x11 in)</PresentationFormat>
  <Paragraphs>286</Paragraphs>
  <Slides>22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Cambria Math</vt:lpstr>
      <vt:lpstr>Garamond</vt:lpstr>
      <vt:lpstr>Times New Roman</vt:lpstr>
      <vt:lpstr>Verdana</vt:lpstr>
      <vt:lpstr>Wingdings</vt:lpstr>
      <vt:lpstr>Level</vt:lpstr>
      <vt:lpstr>Hoja de cálculo</vt:lpstr>
      <vt:lpstr>ADMI 140</vt:lpstr>
      <vt:lpstr>Interacción Riesgo-Retorno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Retorno Esperado Con Probabilidades de Ocurrencia</vt:lpstr>
      <vt:lpstr>Riesgo Esperado Con Probabilidades de Ocurrencia</vt:lpstr>
      <vt:lpstr>Análisis con Probabilidades de Ocurrencia</vt:lpstr>
      <vt:lpstr>Análisis con Probabilidades de Ocurrencia: Índice de Sharpe</vt:lpstr>
      <vt:lpstr>Retorno Esperado con Datos Históricos</vt:lpstr>
      <vt:lpstr>Retorno Esperado con Datos Históricos: Media aritmética</vt:lpstr>
      <vt:lpstr>Retorno Esperado con Datos Históricos: Media Geométrica</vt:lpstr>
      <vt:lpstr>Riesgo con Datos Históricos</vt:lpstr>
      <vt:lpstr>Error de estimación con Datos Históricos</vt:lpstr>
      <vt:lpstr>Retornos y Logaritmo Natural</vt:lpstr>
      <vt:lpstr>Hipótesis del Paseo Aleatorio de los precios de las acciones</vt:lpstr>
      <vt:lpstr>Paseo aleatorio y la Hipótesis de eficiencia (EMH)</vt:lpstr>
      <vt:lpstr>Paseo aleatorio y la Hipótesis de eficiencia (EMH)</vt:lpstr>
      <vt:lpstr>Simulación Paseo Aleatorio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Valuation of Bonds</dc:title>
  <dc:subject>Valuation of Bonds and Stocks</dc:subject>
  <dc:creator>Fuqua School of Business</dc:creator>
  <cp:keywords/>
  <dc:description/>
  <cp:lastModifiedBy>Roxana Pincheira L.</cp:lastModifiedBy>
  <cp:revision>294</cp:revision>
  <cp:lastPrinted>2019-05-02T14:46:33Z</cp:lastPrinted>
  <dcterms:created xsi:type="dcterms:W3CDTF">1996-10-21T11:45:36Z</dcterms:created>
  <dcterms:modified xsi:type="dcterms:W3CDTF">2026-10-01T14:02:59Z</dcterms:modified>
</cp:coreProperties>
</file>